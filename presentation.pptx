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457200"/>
            <a:ext cx="6400800" cy="3108960"/>
          </a:xfrm>
          <a:prstGeom prst="rect">
            <a:avLst/>
          </a:prstGeom>
          <a:noFill/>
        </p:spPr>
        <p:txBody>
          <a:bodyPr wrap="square">
            <a:spAutoFit/>
          </a:bodyPr>
          <a:lstStyle/>
          <a:p>
            <a:pPr algn="l"/>
            <a:r>
              <a:rPr sz="16000" b="0" i="0">
                <a:solidFill>
                  <a:srgbClr val="1A1A1A"/>
                </a:solidFill>
                <a:latin typeface="Inter"/>
              </a:rPr>
              <a:t>47%</a:t>
            </a:r>
          </a:p>
        </p:txBody>
      </p:sp>
      <p:sp>
        <p:nvSpPr>
          <p:cNvPr id="3" name="Rectangle 2"/>
          <p:cNvSpPr/>
          <p:nvPr/>
        </p:nvSpPr>
        <p:spPr>
          <a:xfrm>
            <a:off x="6949440" y="731520"/>
            <a:ext cx="7620" cy="5303520"/>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0" y="914400"/>
            <a:ext cx="9144000" cy="274320"/>
          </a:xfrm>
          <a:prstGeom prst="rect">
            <a:avLst/>
          </a:prstGeom>
          <a:noFill/>
        </p:spPr>
        <p:txBody>
          <a:bodyPr wrap="square">
            <a:spAutoFit/>
          </a:bodyPr>
          <a:lstStyle/>
          <a:p>
            <a:pPr algn="l"/>
            <a:r>
              <a:rPr sz="700" b="1" i="0">
                <a:solidFill>
                  <a:srgbClr val="8A8A8A"/>
                </a:solidFill>
                <a:latin typeface="Inter"/>
              </a:rPr>
              <a:t>IRONHACK DATA SCIENCE — FINAL PROJECT</a:t>
            </a:r>
          </a:p>
        </p:txBody>
      </p:sp>
      <p:sp>
        <p:nvSpPr>
          <p:cNvPr id="5" name="TextBox 4"/>
          <p:cNvSpPr txBox="1"/>
          <p:nvPr/>
        </p:nvSpPr>
        <p:spPr>
          <a:xfrm>
            <a:off x="7315200" y="1234440"/>
            <a:ext cx="4572000" cy="2011680"/>
          </a:xfrm>
          <a:prstGeom prst="rect">
            <a:avLst/>
          </a:prstGeom>
          <a:noFill/>
        </p:spPr>
        <p:txBody>
          <a:bodyPr wrap="square">
            <a:spAutoFit/>
          </a:bodyPr>
          <a:lstStyle/>
          <a:p>
            <a:pPr algn="l"/>
            <a:r>
              <a:rPr sz="2600" b="0" i="0">
                <a:solidFill>
                  <a:srgbClr val="1A1A1A"/>
                </a:solidFill>
                <a:latin typeface="Inter"/>
              </a:rPr>
              <a:t>AI Adoption in
US Small &amp; Medium
Enterprises</a:t>
            </a:r>
          </a:p>
        </p:txBody>
      </p:sp>
      <p:sp>
        <p:nvSpPr>
          <p:cNvPr id="6" name="TextBox 5"/>
          <p:cNvSpPr txBox="1"/>
          <p:nvPr/>
        </p:nvSpPr>
        <p:spPr>
          <a:xfrm>
            <a:off x="7315200" y="3154680"/>
            <a:ext cx="4572000" cy="777240"/>
          </a:xfrm>
          <a:prstGeom prst="rect">
            <a:avLst/>
          </a:prstGeom>
          <a:noFill/>
        </p:spPr>
        <p:txBody>
          <a:bodyPr wrap="square">
            <a:spAutoFit/>
          </a:bodyPr>
          <a:lstStyle/>
          <a:p>
            <a:pPr algn="l"/>
            <a:r>
              <a:rPr sz="950" b="0" i="0">
                <a:solidFill>
                  <a:srgbClr val="5A5A5A"/>
                </a:solidFill>
                <a:latin typeface="Inter"/>
              </a:rPr>
              <a:t>An end-to-end statistical analysis of the AI transformation
across American small business — 2019 to 2028.</a:t>
            </a:r>
          </a:p>
        </p:txBody>
      </p:sp>
      <p:cxnSp>
        <p:nvCxnSpPr>
          <p:cNvPr id="7" name="Connector 6"/>
          <p:cNvCxnSpPr/>
          <p:nvPr/>
        </p:nvCxnSpPr>
        <p:spPr>
          <a:xfrm>
            <a:off x="7315200" y="4032504"/>
            <a:ext cx="4572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0" y="4069080"/>
            <a:ext cx="1645920" cy="347472"/>
          </a:xfrm>
          <a:prstGeom prst="rect">
            <a:avLst/>
          </a:prstGeom>
          <a:noFill/>
        </p:spPr>
        <p:txBody>
          <a:bodyPr wrap="square">
            <a:spAutoFit/>
          </a:bodyPr>
          <a:lstStyle/>
          <a:p>
            <a:pPr algn="l"/>
            <a:r>
              <a:rPr sz="700" b="0" i="0">
                <a:solidFill>
                  <a:srgbClr val="8A8A8A"/>
                </a:solidFill>
                <a:latin typeface="Inter"/>
              </a:rPr>
              <a:t>Dataset</a:t>
            </a:r>
          </a:p>
        </p:txBody>
      </p:sp>
      <p:sp>
        <p:nvSpPr>
          <p:cNvPr id="9" name="TextBox 8"/>
          <p:cNvSpPr txBox="1"/>
          <p:nvPr/>
        </p:nvSpPr>
        <p:spPr>
          <a:xfrm>
            <a:off x="9052560" y="4069080"/>
            <a:ext cx="2926080" cy="347472"/>
          </a:xfrm>
          <a:prstGeom prst="rect">
            <a:avLst/>
          </a:prstGeom>
          <a:noFill/>
        </p:spPr>
        <p:txBody>
          <a:bodyPr wrap="square">
            <a:spAutoFit/>
          </a:bodyPr>
          <a:lstStyle/>
          <a:p>
            <a:pPr algn="l"/>
            <a:r>
              <a:rPr sz="850" b="0" i="0">
                <a:solidFill>
                  <a:srgbClr val="1A1A1A"/>
                </a:solidFill>
                <a:latin typeface="Inter"/>
              </a:rPr>
              <a:t>5,000 SME-year observations</a:t>
            </a:r>
          </a:p>
        </p:txBody>
      </p:sp>
      <p:cxnSp>
        <p:nvCxnSpPr>
          <p:cNvPr id="10" name="Connector 9"/>
          <p:cNvCxnSpPr/>
          <p:nvPr/>
        </p:nvCxnSpPr>
        <p:spPr>
          <a:xfrm>
            <a:off x="7315200" y="4471416"/>
            <a:ext cx="4572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315200" y="4507992"/>
            <a:ext cx="1645920" cy="347472"/>
          </a:xfrm>
          <a:prstGeom prst="rect">
            <a:avLst/>
          </a:prstGeom>
          <a:noFill/>
        </p:spPr>
        <p:txBody>
          <a:bodyPr wrap="square">
            <a:spAutoFit/>
          </a:bodyPr>
          <a:lstStyle/>
          <a:p>
            <a:pPr algn="l"/>
            <a:r>
              <a:rPr sz="700" b="0" i="0">
                <a:solidFill>
                  <a:srgbClr val="8A8A8A"/>
                </a:solidFill>
                <a:latin typeface="Inter"/>
              </a:rPr>
              <a:t>Period</a:t>
            </a:r>
          </a:p>
        </p:txBody>
      </p:sp>
      <p:sp>
        <p:nvSpPr>
          <p:cNvPr id="12" name="TextBox 11"/>
          <p:cNvSpPr txBox="1"/>
          <p:nvPr/>
        </p:nvSpPr>
        <p:spPr>
          <a:xfrm>
            <a:off x="9052560" y="4507992"/>
            <a:ext cx="2926080" cy="347472"/>
          </a:xfrm>
          <a:prstGeom prst="rect">
            <a:avLst/>
          </a:prstGeom>
          <a:noFill/>
        </p:spPr>
        <p:txBody>
          <a:bodyPr wrap="square">
            <a:spAutoFit/>
          </a:bodyPr>
          <a:lstStyle/>
          <a:p>
            <a:pPr algn="l"/>
            <a:r>
              <a:rPr sz="850" b="0" i="0">
                <a:solidFill>
                  <a:srgbClr val="1A1A1A"/>
                </a:solidFill>
                <a:latin typeface="Inter"/>
              </a:rPr>
              <a:t>2019 – 2024</a:t>
            </a:r>
          </a:p>
        </p:txBody>
      </p:sp>
      <p:cxnSp>
        <p:nvCxnSpPr>
          <p:cNvPr id="13" name="Connector 12"/>
          <p:cNvCxnSpPr/>
          <p:nvPr/>
        </p:nvCxnSpPr>
        <p:spPr>
          <a:xfrm>
            <a:off x="7315200" y="4910328"/>
            <a:ext cx="4572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0" y="4946904"/>
            <a:ext cx="1645920" cy="347472"/>
          </a:xfrm>
          <a:prstGeom prst="rect">
            <a:avLst/>
          </a:prstGeom>
          <a:noFill/>
        </p:spPr>
        <p:txBody>
          <a:bodyPr wrap="square">
            <a:spAutoFit/>
          </a:bodyPr>
          <a:lstStyle/>
          <a:p>
            <a:pPr algn="l"/>
            <a:r>
              <a:rPr sz="700" b="0" i="0">
                <a:solidFill>
                  <a:srgbClr val="8A8A8A"/>
                </a:solidFill>
                <a:latin typeface="Inter"/>
              </a:rPr>
              <a:t>Coverage</a:t>
            </a:r>
          </a:p>
        </p:txBody>
      </p:sp>
      <p:sp>
        <p:nvSpPr>
          <p:cNvPr id="15" name="TextBox 14"/>
          <p:cNvSpPr txBox="1"/>
          <p:nvPr/>
        </p:nvSpPr>
        <p:spPr>
          <a:xfrm>
            <a:off x="9052560" y="4946904"/>
            <a:ext cx="2926080" cy="347472"/>
          </a:xfrm>
          <a:prstGeom prst="rect">
            <a:avLst/>
          </a:prstGeom>
          <a:noFill/>
        </p:spPr>
        <p:txBody>
          <a:bodyPr wrap="square">
            <a:spAutoFit/>
          </a:bodyPr>
          <a:lstStyle/>
          <a:p>
            <a:pPr algn="l"/>
            <a:r>
              <a:rPr sz="850" b="0" i="0">
                <a:solidFill>
                  <a:srgbClr val="1A1A1A"/>
                </a:solidFill>
                <a:latin typeface="Inter"/>
              </a:rPr>
              <a:t>30 US states · 10 industries</a:t>
            </a:r>
          </a:p>
        </p:txBody>
      </p:sp>
      <p:cxnSp>
        <p:nvCxnSpPr>
          <p:cNvPr id="16" name="Connector 15"/>
          <p:cNvCxnSpPr/>
          <p:nvPr/>
        </p:nvCxnSpPr>
        <p:spPr>
          <a:xfrm>
            <a:off x="7315200" y="5349240"/>
            <a:ext cx="4572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0" y="5385816"/>
            <a:ext cx="1645920" cy="347472"/>
          </a:xfrm>
          <a:prstGeom prst="rect">
            <a:avLst/>
          </a:prstGeom>
          <a:noFill/>
        </p:spPr>
        <p:txBody>
          <a:bodyPr wrap="square">
            <a:spAutoFit/>
          </a:bodyPr>
          <a:lstStyle/>
          <a:p>
            <a:pPr algn="l"/>
            <a:r>
              <a:rPr sz="700" b="0" i="0">
                <a:solidFill>
                  <a:srgbClr val="8A8A8A"/>
                </a:solidFill>
                <a:latin typeface="Inter"/>
              </a:rPr>
              <a:t>Methods</a:t>
            </a:r>
          </a:p>
        </p:txBody>
      </p:sp>
      <p:sp>
        <p:nvSpPr>
          <p:cNvPr id="18" name="TextBox 17"/>
          <p:cNvSpPr txBox="1"/>
          <p:nvPr/>
        </p:nvSpPr>
        <p:spPr>
          <a:xfrm>
            <a:off x="9052560" y="5385816"/>
            <a:ext cx="2926080" cy="347472"/>
          </a:xfrm>
          <a:prstGeom prst="rect">
            <a:avLst/>
          </a:prstGeom>
          <a:noFill/>
        </p:spPr>
        <p:txBody>
          <a:bodyPr wrap="square">
            <a:spAutoFit/>
          </a:bodyPr>
          <a:lstStyle/>
          <a:p>
            <a:pPr algn="l"/>
            <a:r>
              <a:rPr sz="850" b="0" i="0">
                <a:solidFill>
                  <a:srgbClr val="1A1A1A"/>
                </a:solidFill>
                <a:latin typeface="Inter"/>
              </a:rPr>
              <a:t>Classification · Clustering · Regression · GenAI</a:t>
            </a:r>
          </a:p>
        </p:txBody>
      </p:sp>
      <p:cxnSp>
        <p:nvCxnSpPr>
          <p:cNvPr id="19" name="Connector 18"/>
          <p:cNvCxnSpPr/>
          <p:nvPr/>
        </p:nvCxnSpPr>
        <p:spPr>
          <a:xfrm>
            <a:off x="7315200" y="5788152"/>
            <a:ext cx="4572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0" y="5824728"/>
            <a:ext cx="1645920" cy="347472"/>
          </a:xfrm>
          <a:prstGeom prst="rect">
            <a:avLst/>
          </a:prstGeom>
          <a:noFill/>
        </p:spPr>
        <p:txBody>
          <a:bodyPr wrap="square">
            <a:spAutoFit/>
          </a:bodyPr>
          <a:lstStyle/>
          <a:p>
            <a:pPr algn="l"/>
            <a:r>
              <a:rPr sz="700" b="0" i="0">
                <a:solidFill>
                  <a:srgbClr val="8A8A8A"/>
                </a:solidFill>
                <a:latin typeface="Inter"/>
              </a:rPr>
              <a:t>Best model</a:t>
            </a:r>
          </a:p>
        </p:txBody>
      </p:sp>
      <p:sp>
        <p:nvSpPr>
          <p:cNvPr id="21" name="TextBox 20"/>
          <p:cNvSpPr txBox="1"/>
          <p:nvPr/>
        </p:nvSpPr>
        <p:spPr>
          <a:xfrm>
            <a:off x="9052560" y="5824728"/>
            <a:ext cx="2926080" cy="347472"/>
          </a:xfrm>
          <a:prstGeom prst="rect">
            <a:avLst/>
          </a:prstGeom>
          <a:noFill/>
        </p:spPr>
        <p:txBody>
          <a:bodyPr wrap="square">
            <a:spAutoFit/>
          </a:bodyPr>
          <a:lstStyle/>
          <a:p>
            <a:pPr algn="l"/>
            <a:r>
              <a:rPr sz="850" b="0" i="0">
                <a:solidFill>
                  <a:srgbClr val="1A1A1A"/>
                </a:solidFill>
                <a:latin typeface="Inter"/>
              </a:rPr>
              <a:t>Gradient Boosting  F1 = 0.901</a:t>
            </a:r>
          </a:p>
        </p:txBody>
      </p:sp>
      <p:cxnSp>
        <p:nvCxnSpPr>
          <p:cNvPr id="22" name="Connector 21"/>
          <p:cNvCxnSpPr/>
          <p:nvPr/>
        </p:nvCxnSpPr>
        <p:spPr>
          <a:xfrm>
            <a:off x="7315200" y="6227064"/>
            <a:ext cx="4572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24" name="TextBox 23"/>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01 / 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CONTEXT</a:t>
            </a:r>
          </a:p>
        </p:txBody>
      </p:sp>
      <p:sp>
        <p:nvSpPr>
          <p:cNvPr id="3" name="TextBox 2"/>
          <p:cNvSpPr txBox="1"/>
          <p:nvPr/>
        </p:nvSpPr>
        <p:spPr>
          <a:xfrm>
            <a:off x="502920" y="777240"/>
            <a:ext cx="7315200" cy="731520"/>
          </a:xfrm>
          <a:prstGeom prst="rect">
            <a:avLst/>
          </a:prstGeom>
          <a:noFill/>
        </p:spPr>
        <p:txBody>
          <a:bodyPr wrap="square">
            <a:spAutoFit/>
          </a:bodyPr>
          <a:lstStyle/>
          <a:p>
            <a:pPr algn="l"/>
            <a:r>
              <a:rPr sz="3200" b="0" i="0">
                <a:solidFill>
                  <a:srgbClr val="1A1A1A"/>
                </a:solidFill>
                <a:latin typeface="Inter"/>
              </a:rPr>
              <a:t>The scale of the opportunity</a:t>
            </a:r>
          </a:p>
        </p:txBody>
      </p:sp>
      <p:cxnSp>
        <p:nvCxnSpPr>
          <p:cNvPr id="4" name="Connector 3"/>
          <p:cNvCxnSpPr/>
          <p:nvPr/>
        </p:nvCxnSpPr>
        <p:spPr>
          <a:xfrm>
            <a:off x="502920" y="157276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02920" y="1828800"/>
            <a:ext cx="3566160" cy="347472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03120"/>
            <a:ext cx="3108960" cy="1280160"/>
          </a:xfrm>
          <a:prstGeom prst="rect">
            <a:avLst/>
          </a:prstGeom>
          <a:noFill/>
        </p:spPr>
        <p:txBody>
          <a:bodyPr wrap="square">
            <a:spAutoFit/>
          </a:bodyPr>
          <a:lstStyle/>
          <a:p>
            <a:pPr algn="l"/>
            <a:r>
              <a:rPr sz="5800" b="0" i="0">
                <a:solidFill>
                  <a:srgbClr val="1A1A1A"/>
                </a:solidFill>
                <a:latin typeface="Inter"/>
              </a:rPr>
              <a:t>33.2M</a:t>
            </a:r>
          </a:p>
        </p:txBody>
      </p:sp>
      <p:sp>
        <p:nvSpPr>
          <p:cNvPr id="7" name="TextBox 6"/>
          <p:cNvSpPr txBox="1"/>
          <p:nvPr/>
        </p:nvSpPr>
        <p:spPr>
          <a:xfrm>
            <a:off x="777240" y="3383280"/>
            <a:ext cx="3017520" cy="914400"/>
          </a:xfrm>
          <a:prstGeom prst="rect">
            <a:avLst/>
          </a:prstGeom>
          <a:noFill/>
        </p:spPr>
        <p:txBody>
          <a:bodyPr wrap="square">
            <a:spAutoFit/>
          </a:bodyPr>
          <a:lstStyle/>
          <a:p>
            <a:pPr algn="l"/>
            <a:r>
              <a:rPr sz="950" b="0" i="0">
                <a:solidFill>
                  <a:srgbClr val="5A5A5A"/>
                </a:solidFill>
                <a:latin typeface="Inter"/>
              </a:rPr>
              <a:t>US small and medium
businesses — the total
addressable market</a:t>
            </a:r>
          </a:p>
        </p:txBody>
      </p:sp>
      <p:sp>
        <p:nvSpPr>
          <p:cNvPr id="8" name="Rectangle 7"/>
          <p:cNvSpPr/>
          <p:nvPr/>
        </p:nvSpPr>
        <p:spPr>
          <a:xfrm>
            <a:off x="4361688" y="1828800"/>
            <a:ext cx="3566160" cy="347472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6008" y="2103120"/>
            <a:ext cx="3108960" cy="1280160"/>
          </a:xfrm>
          <a:prstGeom prst="rect">
            <a:avLst/>
          </a:prstGeom>
          <a:noFill/>
        </p:spPr>
        <p:txBody>
          <a:bodyPr wrap="square">
            <a:spAutoFit/>
          </a:bodyPr>
          <a:lstStyle/>
          <a:p>
            <a:pPr algn="l"/>
            <a:r>
              <a:rPr sz="5800" b="0" i="0">
                <a:solidFill>
                  <a:srgbClr val="1A1A1A"/>
                </a:solidFill>
                <a:latin typeface="Inter"/>
              </a:rPr>
              <a:t>+680%</a:t>
            </a:r>
          </a:p>
        </p:txBody>
      </p:sp>
      <p:sp>
        <p:nvSpPr>
          <p:cNvPr id="10" name="TextBox 9"/>
          <p:cNvSpPr txBox="1"/>
          <p:nvPr/>
        </p:nvSpPr>
        <p:spPr>
          <a:xfrm>
            <a:off x="4636008" y="3383280"/>
            <a:ext cx="3017520" cy="914400"/>
          </a:xfrm>
          <a:prstGeom prst="rect">
            <a:avLst/>
          </a:prstGeom>
          <a:noFill/>
        </p:spPr>
        <p:txBody>
          <a:bodyPr wrap="square">
            <a:spAutoFit/>
          </a:bodyPr>
          <a:lstStyle/>
          <a:p>
            <a:pPr algn="l"/>
            <a:r>
              <a:rPr sz="950" b="0" i="0">
                <a:solidFill>
                  <a:srgbClr val="5A5A5A"/>
                </a:solidFill>
                <a:latin typeface="Inter"/>
              </a:rPr>
              <a:t>AI adoption growth
over five years,
2019 to 2024</a:t>
            </a:r>
          </a:p>
        </p:txBody>
      </p:sp>
      <p:sp>
        <p:nvSpPr>
          <p:cNvPr id="11" name="Rectangle 10"/>
          <p:cNvSpPr/>
          <p:nvPr/>
        </p:nvSpPr>
        <p:spPr>
          <a:xfrm>
            <a:off x="8220456" y="1828800"/>
            <a:ext cx="3566160" cy="347472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4776" y="2103120"/>
            <a:ext cx="3108960" cy="1280160"/>
          </a:xfrm>
          <a:prstGeom prst="rect">
            <a:avLst/>
          </a:prstGeom>
          <a:noFill/>
        </p:spPr>
        <p:txBody>
          <a:bodyPr wrap="square">
            <a:spAutoFit/>
          </a:bodyPr>
          <a:lstStyle/>
          <a:p>
            <a:pPr algn="l"/>
            <a:r>
              <a:rPr sz="5800" b="0" i="0">
                <a:solidFill>
                  <a:srgbClr val="1A1A1A"/>
                </a:solidFill>
                <a:latin typeface="Inter"/>
              </a:rPr>
              <a:t>$847B</a:t>
            </a:r>
          </a:p>
        </p:txBody>
      </p:sp>
      <p:sp>
        <p:nvSpPr>
          <p:cNvPr id="13" name="TextBox 12"/>
          <p:cNvSpPr txBox="1"/>
          <p:nvPr/>
        </p:nvSpPr>
        <p:spPr>
          <a:xfrm>
            <a:off x="8494776" y="3383280"/>
            <a:ext cx="3017520" cy="914400"/>
          </a:xfrm>
          <a:prstGeom prst="rect">
            <a:avLst/>
          </a:prstGeom>
          <a:noFill/>
        </p:spPr>
        <p:txBody>
          <a:bodyPr wrap="square">
            <a:spAutoFit/>
          </a:bodyPr>
          <a:lstStyle/>
          <a:p>
            <a:pPr algn="l"/>
            <a:r>
              <a:rPr sz="950" b="0" i="0">
                <a:solidFill>
                  <a:srgbClr val="5A5A5A"/>
                </a:solidFill>
                <a:latin typeface="Inter"/>
              </a:rPr>
              <a:t>Projected AI-enabled
SME economic output
by 2028</a:t>
            </a:r>
          </a:p>
        </p:txBody>
      </p:sp>
      <p:sp>
        <p:nvSpPr>
          <p:cNvPr id="14" name="TextBox 13"/>
          <p:cNvSpPr txBox="1"/>
          <p:nvPr/>
        </p:nvSpPr>
        <p:spPr>
          <a:xfrm>
            <a:off x="502920" y="5577840"/>
            <a:ext cx="11155680" cy="777240"/>
          </a:xfrm>
          <a:prstGeom prst="rect">
            <a:avLst/>
          </a:prstGeom>
          <a:noFill/>
        </p:spPr>
        <p:txBody>
          <a:bodyPr wrap="square">
            <a:spAutoFit/>
          </a:bodyPr>
          <a:lstStyle/>
          <a:p>
            <a:pPr algn="l"/>
            <a:r>
              <a:rPr sz="950" b="0" i="0">
                <a:solidFill>
                  <a:srgbClr val="5A5A5A"/>
                </a:solidFill>
                <a:latin typeface="Inter"/>
              </a:rPr>
              <a:t>The AI revolution is not confined to large corporations. The next decisive battleground is America's 33 million small and medium businesses — and the data shows adoption is accelerating faster than most projections anticipated.</a:t>
            </a:r>
          </a:p>
        </p:txBody>
      </p:sp>
      <p:sp>
        <p:nvSpPr>
          <p:cNvPr id="15" name="TextBox 14"/>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16" name="TextBox 15"/>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02 / 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HISTORICAL ADOPTION</a:t>
            </a:r>
          </a:p>
        </p:txBody>
      </p:sp>
      <p:sp>
        <p:nvSpPr>
          <p:cNvPr id="3" name="TextBox 2"/>
          <p:cNvSpPr txBox="1"/>
          <p:nvPr/>
        </p:nvSpPr>
        <p:spPr>
          <a:xfrm>
            <a:off x="502920" y="777240"/>
            <a:ext cx="7315200" cy="640080"/>
          </a:xfrm>
          <a:prstGeom prst="rect">
            <a:avLst/>
          </a:prstGeom>
          <a:noFill/>
        </p:spPr>
        <p:txBody>
          <a:bodyPr wrap="square">
            <a:spAutoFit/>
          </a:bodyPr>
          <a:lstStyle/>
          <a:p>
            <a:pPr algn="l"/>
            <a:r>
              <a:rPr sz="2800" b="0" i="0">
                <a:solidFill>
                  <a:srgbClr val="1A1A1A"/>
                </a:solidFill>
                <a:latin typeface="Inter"/>
              </a:rPr>
              <a:t>National AI adoption rate, 2019–2024</a:t>
            </a:r>
          </a:p>
        </p:txBody>
      </p:sp>
      <p:cxnSp>
        <p:nvCxnSpPr>
          <p:cNvPr id="4" name="Connector 3"/>
          <p:cNvCxnSpPr/>
          <p:nvPr/>
        </p:nvCxnSpPr>
        <p:spPr>
          <a:xfrm>
            <a:off x="502920" y="1481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02920" y="4957876"/>
            <a:ext cx="1417320" cy="208483"/>
          </a:xfrm>
          <a:prstGeom prst="rect">
            <a:avLst/>
          </a:prstGeom>
          <a:solidFill>
            <a:srgbClr val="C4C4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5239512"/>
            <a:ext cx="1417320" cy="274320"/>
          </a:xfrm>
          <a:prstGeom prst="rect">
            <a:avLst/>
          </a:prstGeom>
          <a:noFill/>
        </p:spPr>
        <p:txBody>
          <a:bodyPr wrap="square">
            <a:spAutoFit/>
          </a:bodyPr>
          <a:lstStyle/>
          <a:p>
            <a:pPr algn="ctr"/>
            <a:r>
              <a:rPr sz="800" b="0" i="0">
                <a:solidFill>
                  <a:srgbClr val="8A8A8A"/>
                </a:solidFill>
                <a:latin typeface="Inter"/>
              </a:rPr>
              <a:t>2019</a:t>
            </a:r>
          </a:p>
        </p:txBody>
      </p:sp>
      <p:sp>
        <p:nvSpPr>
          <p:cNvPr id="7" name="TextBox 6"/>
          <p:cNvSpPr txBox="1"/>
          <p:nvPr/>
        </p:nvSpPr>
        <p:spPr>
          <a:xfrm>
            <a:off x="502920" y="4610404"/>
            <a:ext cx="1417320" cy="320040"/>
          </a:xfrm>
          <a:prstGeom prst="rect">
            <a:avLst/>
          </a:prstGeom>
          <a:noFill/>
        </p:spPr>
        <p:txBody>
          <a:bodyPr wrap="square">
            <a:spAutoFit/>
          </a:bodyPr>
          <a:lstStyle/>
          <a:p>
            <a:pPr algn="ctr"/>
            <a:r>
              <a:rPr sz="1100" b="0" i="0">
                <a:solidFill>
                  <a:srgbClr val="1A1A1A"/>
                </a:solidFill>
                <a:latin typeface="Inter"/>
              </a:rPr>
              <a:t>6%</a:t>
            </a:r>
          </a:p>
        </p:txBody>
      </p:sp>
      <p:sp>
        <p:nvSpPr>
          <p:cNvPr id="8" name="Rectangle 7"/>
          <p:cNvSpPr/>
          <p:nvPr/>
        </p:nvSpPr>
        <p:spPr>
          <a:xfrm>
            <a:off x="2267712" y="4853635"/>
            <a:ext cx="1417320" cy="312724"/>
          </a:xfrm>
          <a:prstGeom prst="rect">
            <a:avLst/>
          </a:prstGeom>
          <a:solidFill>
            <a:srgbClr val="C4C4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67712" y="5239512"/>
            <a:ext cx="1417320" cy="274320"/>
          </a:xfrm>
          <a:prstGeom prst="rect">
            <a:avLst/>
          </a:prstGeom>
          <a:noFill/>
        </p:spPr>
        <p:txBody>
          <a:bodyPr wrap="square">
            <a:spAutoFit/>
          </a:bodyPr>
          <a:lstStyle/>
          <a:p>
            <a:pPr algn="ctr"/>
            <a:r>
              <a:rPr sz="800" b="0" i="0">
                <a:solidFill>
                  <a:srgbClr val="8A8A8A"/>
                </a:solidFill>
                <a:latin typeface="Inter"/>
              </a:rPr>
              <a:t>2020</a:t>
            </a:r>
          </a:p>
        </p:txBody>
      </p:sp>
      <p:sp>
        <p:nvSpPr>
          <p:cNvPr id="10" name="TextBox 9"/>
          <p:cNvSpPr txBox="1"/>
          <p:nvPr/>
        </p:nvSpPr>
        <p:spPr>
          <a:xfrm>
            <a:off x="2267712" y="4506163"/>
            <a:ext cx="1417320" cy="320040"/>
          </a:xfrm>
          <a:prstGeom prst="rect">
            <a:avLst/>
          </a:prstGeom>
          <a:noFill/>
        </p:spPr>
        <p:txBody>
          <a:bodyPr wrap="square">
            <a:spAutoFit/>
          </a:bodyPr>
          <a:lstStyle/>
          <a:p>
            <a:pPr algn="ctr"/>
            <a:r>
              <a:rPr sz="1100" b="0" i="0">
                <a:solidFill>
                  <a:srgbClr val="1A1A1A"/>
                </a:solidFill>
                <a:latin typeface="Inter"/>
              </a:rPr>
              <a:t>9%</a:t>
            </a:r>
          </a:p>
        </p:txBody>
      </p:sp>
      <p:sp>
        <p:nvSpPr>
          <p:cNvPr id="11" name="Rectangle 10"/>
          <p:cNvSpPr/>
          <p:nvPr/>
        </p:nvSpPr>
        <p:spPr>
          <a:xfrm>
            <a:off x="4032504" y="4645152"/>
            <a:ext cx="1417320" cy="521208"/>
          </a:xfrm>
          <a:prstGeom prst="rect">
            <a:avLst/>
          </a:prstGeom>
          <a:solidFill>
            <a:srgbClr val="C4C4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32504" y="5239512"/>
            <a:ext cx="1417320" cy="274320"/>
          </a:xfrm>
          <a:prstGeom prst="rect">
            <a:avLst/>
          </a:prstGeom>
          <a:noFill/>
        </p:spPr>
        <p:txBody>
          <a:bodyPr wrap="square">
            <a:spAutoFit/>
          </a:bodyPr>
          <a:lstStyle/>
          <a:p>
            <a:pPr algn="ctr"/>
            <a:r>
              <a:rPr sz="800" b="0" i="0">
                <a:solidFill>
                  <a:srgbClr val="8A8A8A"/>
                </a:solidFill>
                <a:latin typeface="Inter"/>
              </a:rPr>
              <a:t>2021</a:t>
            </a:r>
          </a:p>
        </p:txBody>
      </p:sp>
      <p:sp>
        <p:nvSpPr>
          <p:cNvPr id="13" name="TextBox 12"/>
          <p:cNvSpPr txBox="1"/>
          <p:nvPr/>
        </p:nvSpPr>
        <p:spPr>
          <a:xfrm>
            <a:off x="4032504" y="4297680"/>
            <a:ext cx="1417320" cy="320040"/>
          </a:xfrm>
          <a:prstGeom prst="rect">
            <a:avLst/>
          </a:prstGeom>
          <a:noFill/>
        </p:spPr>
        <p:txBody>
          <a:bodyPr wrap="square">
            <a:spAutoFit/>
          </a:bodyPr>
          <a:lstStyle/>
          <a:p>
            <a:pPr algn="ctr"/>
            <a:r>
              <a:rPr sz="1100" b="0" i="0">
                <a:solidFill>
                  <a:srgbClr val="1A1A1A"/>
                </a:solidFill>
                <a:latin typeface="Inter"/>
              </a:rPr>
              <a:t>15%</a:t>
            </a:r>
          </a:p>
        </p:txBody>
      </p:sp>
      <p:sp>
        <p:nvSpPr>
          <p:cNvPr id="14" name="Rectangle 13"/>
          <p:cNvSpPr/>
          <p:nvPr/>
        </p:nvSpPr>
        <p:spPr>
          <a:xfrm>
            <a:off x="5797296" y="4332427"/>
            <a:ext cx="1417320" cy="833932"/>
          </a:xfrm>
          <a:prstGeom prst="rect">
            <a:avLst/>
          </a:prstGeom>
          <a:solidFill>
            <a:srgbClr val="C4C4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97296" y="5239512"/>
            <a:ext cx="1417320" cy="274320"/>
          </a:xfrm>
          <a:prstGeom prst="rect">
            <a:avLst/>
          </a:prstGeom>
          <a:noFill/>
        </p:spPr>
        <p:txBody>
          <a:bodyPr wrap="square">
            <a:spAutoFit/>
          </a:bodyPr>
          <a:lstStyle/>
          <a:p>
            <a:pPr algn="ctr"/>
            <a:r>
              <a:rPr sz="800" b="0" i="0">
                <a:solidFill>
                  <a:srgbClr val="8A8A8A"/>
                </a:solidFill>
                <a:latin typeface="Inter"/>
              </a:rPr>
              <a:t>2022</a:t>
            </a:r>
          </a:p>
        </p:txBody>
      </p:sp>
      <p:sp>
        <p:nvSpPr>
          <p:cNvPr id="16" name="TextBox 15"/>
          <p:cNvSpPr txBox="1"/>
          <p:nvPr/>
        </p:nvSpPr>
        <p:spPr>
          <a:xfrm>
            <a:off x="5797296" y="3984955"/>
            <a:ext cx="1417320" cy="320040"/>
          </a:xfrm>
          <a:prstGeom prst="rect">
            <a:avLst/>
          </a:prstGeom>
          <a:noFill/>
        </p:spPr>
        <p:txBody>
          <a:bodyPr wrap="square">
            <a:spAutoFit/>
          </a:bodyPr>
          <a:lstStyle/>
          <a:p>
            <a:pPr algn="ctr"/>
            <a:r>
              <a:rPr sz="1100" b="0" i="0">
                <a:solidFill>
                  <a:srgbClr val="1A1A1A"/>
                </a:solidFill>
                <a:latin typeface="Inter"/>
              </a:rPr>
              <a:t>24%</a:t>
            </a:r>
          </a:p>
        </p:txBody>
      </p:sp>
      <p:sp>
        <p:nvSpPr>
          <p:cNvPr id="17" name="Rectangle 16"/>
          <p:cNvSpPr/>
          <p:nvPr/>
        </p:nvSpPr>
        <p:spPr>
          <a:xfrm>
            <a:off x="7562088" y="3915460"/>
            <a:ext cx="1417320" cy="1250899"/>
          </a:xfrm>
          <a:prstGeom prst="rect">
            <a:avLst/>
          </a:prstGeom>
          <a:solidFill>
            <a:srgbClr val="C4C4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62088" y="5239512"/>
            <a:ext cx="1417320" cy="274320"/>
          </a:xfrm>
          <a:prstGeom prst="rect">
            <a:avLst/>
          </a:prstGeom>
          <a:noFill/>
        </p:spPr>
        <p:txBody>
          <a:bodyPr wrap="square">
            <a:spAutoFit/>
          </a:bodyPr>
          <a:lstStyle/>
          <a:p>
            <a:pPr algn="ctr"/>
            <a:r>
              <a:rPr sz="800" b="0" i="0">
                <a:solidFill>
                  <a:srgbClr val="8A8A8A"/>
                </a:solidFill>
                <a:latin typeface="Inter"/>
              </a:rPr>
              <a:t>2023</a:t>
            </a:r>
          </a:p>
        </p:txBody>
      </p:sp>
      <p:sp>
        <p:nvSpPr>
          <p:cNvPr id="19" name="TextBox 18"/>
          <p:cNvSpPr txBox="1"/>
          <p:nvPr/>
        </p:nvSpPr>
        <p:spPr>
          <a:xfrm>
            <a:off x="7562088" y="3567988"/>
            <a:ext cx="1417320" cy="320040"/>
          </a:xfrm>
          <a:prstGeom prst="rect">
            <a:avLst/>
          </a:prstGeom>
          <a:noFill/>
        </p:spPr>
        <p:txBody>
          <a:bodyPr wrap="square">
            <a:spAutoFit/>
          </a:bodyPr>
          <a:lstStyle/>
          <a:p>
            <a:pPr algn="ctr"/>
            <a:r>
              <a:rPr sz="1100" b="0" i="0">
                <a:solidFill>
                  <a:srgbClr val="1A1A1A"/>
                </a:solidFill>
                <a:latin typeface="Inter"/>
              </a:rPr>
              <a:t>36%</a:t>
            </a:r>
          </a:p>
        </p:txBody>
      </p:sp>
      <p:sp>
        <p:nvSpPr>
          <p:cNvPr id="20" name="Rectangle 19"/>
          <p:cNvSpPr/>
          <p:nvPr/>
        </p:nvSpPr>
        <p:spPr>
          <a:xfrm>
            <a:off x="9326880" y="3533241"/>
            <a:ext cx="1417320" cy="1633118"/>
          </a:xfrm>
          <a:prstGeom prst="rect">
            <a:avLst/>
          </a:prstGeom>
          <a:solidFill>
            <a:srgbClr val="C4C4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5239512"/>
            <a:ext cx="1417320" cy="274320"/>
          </a:xfrm>
          <a:prstGeom prst="rect">
            <a:avLst/>
          </a:prstGeom>
          <a:noFill/>
        </p:spPr>
        <p:txBody>
          <a:bodyPr wrap="square">
            <a:spAutoFit/>
          </a:bodyPr>
          <a:lstStyle/>
          <a:p>
            <a:pPr algn="ctr"/>
            <a:r>
              <a:rPr sz="800" b="0" i="0">
                <a:solidFill>
                  <a:srgbClr val="8A8A8A"/>
                </a:solidFill>
                <a:latin typeface="Inter"/>
              </a:rPr>
              <a:t>2024</a:t>
            </a:r>
          </a:p>
        </p:txBody>
      </p:sp>
      <p:sp>
        <p:nvSpPr>
          <p:cNvPr id="22" name="TextBox 21"/>
          <p:cNvSpPr txBox="1"/>
          <p:nvPr/>
        </p:nvSpPr>
        <p:spPr>
          <a:xfrm>
            <a:off x="9326880" y="3185769"/>
            <a:ext cx="1417320" cy="320040"/>
          </a:xfrm>
          <a:prstGeom prst="rect">
            <a:avLst/>
          </a:prstGeom>
          <a:noFill/>
        </p:spPr>
        <p:txBody>
          <a:bodyPr wrap="square">
            <a:spAutoFit/>
          </a:bodyPr>
          <a:lstStyle/>
          <a:p>
            <a:pPr algn="ctr"/>
            <a:r>
              <a:rPr sz="1100" b="0" i="0">
                <a:solidFill>
                  <a:srgbClr val="1A1A1A"/>
                </a:solidFill>
                <a:latin typeface="Inter"/>
              </a:rPr>
              <a:t>47%</a:t>
            </a:r>
          </a:p>
        </p:txBody>
      </p:sp>
      <p:cxnSp>
        <p:nvCxnSpPr>
          <p:cNvPr id="23" name="Connector 22"/>
          <p:cNvCxnSpPr/>
          <p:nvPr/>
        </p:nvCxnSpPr>
        <p:spPr>
          <a:xfrm>
            <a:off x="502920" y="5166360"/>
            <a:ext cx="109728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955279" y="1828800"/>
            <a:ext cx="1645920" cy="548640"/>
          </a:xfrm>
          <a:prstGeom prst="rect">
            <a:avLst/>
          </a:prstGeom>
          <a:noFill/>
        </p:spPr>
        <p:txBody>
          <a:bodyPr wrap="square">
            <a:spAutoFit/>
          </a:bodyPr>
          <a:lstStyle/>
          <a:p>
            <a:pPr algn="l"/>
            <a:r>
              <a:rPr sz="750" b="0" i="0">
                <a:solidFill>
                  <a:srgbClr val="8A8A8A"/>
                </a:solidFill>
                <a:latin typeface="Inter"/>
              </a:rPr>
              <a:t>ChatGPT
inflection</a:t>
            </a:r>
          </a:p>
        </p:txBody>
      </p:sp>
      <p:sp>
        <p:nvSpPr>
          <p:cNvPr id="25" name="Rectangle 24"/>
          <p:cNvSpPr/>
          <p:nvPr/>
        </p:nvSpPr>
        <p:spPr>
          <a:xfrm>
            <a:off x="8595360" y="2395728"/>
            <a:ext cx="7620" cy="822960"/>
          </a:xfrm>
          <a:prstGeom prst="rect">
            <a:avLst/>
          </a:prstGeom>
          <a:solidFill>
            <a:srgbClr val="C4C4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5760720"/>
            <a:ext cx="11155680" cy="548640"/>
          </a:xfrm>
          <a:prstGeom prst="rect">
            <a:avLst/>
          </a:prstGeom>
          <a:noFill/>
        </p:spPr>
        <p:txBody>
          <a:bodyPr wrap="square">
            <a:spAutoFit/>
          </a:bodyPr>
          <a:lstStyle/>
          <a:p>
            <a:pPr algn="l"/>
            <a:r>
              <a:rPr sz="900" b="0" i="0">
                <a:solidFill>
                  <a:srgbClr val="5A5A5A"/>
                </a:solidFill>
                <a:latin typeface="Inter"/>
              </a:rPr>
              <a:t>Adoption grew 7 pp/year through 2022, then pace doubled following the public release of large language models.</a:t>
            </a:r>
          </a:p>
        </p:txBody>
      </p:sp>
      <p:sp>
        <p:nvSpPr>
          <p:cNvPr id="27" name="TextBox 26"/>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28" name="TextBox 27"/>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03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METHODOLOGY</a:t>
            </a:r>
          </a:p>
        </p:txBody>
      </p:sp>
      <p:sp>
        <p:nvSpPr>
          <p:cNvPr id="3" name="TextBox 2"/>
          <p:cNvSpPr txBox="1"/>
          <p:nvPr/>
        </p:nvSpPr>
        <p:spPr>
          <a:xfrm>
            <a:off x="502920" y="777240"/>
            <a:ext cx="8229600" cy="640080"/>
          </a:xfrm>
          <a:prstGeom prst="rect">
            <a:avLst/>
          </a:prstGeom>
          <a:noFill/>
        </p:spPr>
        <p:txBody>
          <a:bodyPr wrap="square">
            <a:spAutoFit/>
          </a:bodyPr>
          <a:lstStyle/>
          <a:p>
            <a:pPr algn="l"/>
            <a:r>
              <a:rPr sz="2800" b="0" i="0">
                <a:solidFill>
                  <a:srgbClr val="1A1A1A"/>
                </a:solidFill>
                <a:latin typeface="Inter"/>
              </a:rPr>
              <a:t>Four-phase analytical pipeline</a:t>
            </a:r>
          </a:p>
        </p:txBody>
      </p:sp>
      <p:cxnSp>
        <p:nvCxnSpPr>
          <p:cNvPr id="4" name="Connector 3"/>
          <p:cNvCxnSpPr/>
          <p:nvPr/>
        </p:nvCxnSpPr>
        <p:spPr>
          <a:xfrm>
            <a:off x="502920" y="1481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02920" y="1691640"/>
            <a:ext cx="5486400" cy="210312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92808"/>
            <a:ext cx="731520" cy="320040"/>
          </a:xfrm>
          <a:prstGeom prst="rect">
            <a:avLst/>
          </a:prstGeom>
          <a:noFill/>
        </p:spPr>
        <p:txBody>
          <a:bodyPr wrap="square">
            <a:spAutoFit/>
          </a:bodyPr>
          <a:lstStyle/>
          <a:p>
            <a:pPr algn="l"/>
            <a:r>
              <a:rPr sz="900" b="1" i="0">
                <a:solidFill>
                  <a:srgbClr val="C4C4C4"/>
                </a:solidFill>
                <a:latin typeface="Inter"/>
              </a:rPr>
              <a:t>01</a:t>
            </a:r>
          </a:p>
        </p:txBody>
      </p:sp>
      <p:sp>
        <p:nvSpPr>
          <p:cNvPr id="7" name="TextBox 6"/>
          <p:cNvSpPr txBox="1"/>
          <p:nvPr/>
        </p:nvSpPr>
        <p:spPr>
          <a:xfrm>
            <a:off x="758952" y="2167128"/>
            <a:ext cx="4937760" cy="411480"/>
          </a:xfrm>
          <a:prstGeom prst="rect">
            <a:avLst/>
          </a:prstGeom>
          <a:noFill/>
        </p:spPr>
        <p:txBody>
          <a:bodyPr wrap="square">
            <a:spAutoFit/>
          </a:bodyPr>
          <a:lstStyle/>
          <a:p>
            <a:pPr algn="l"/>
            <a:r>
              <a:rPr sz="1200" b="0" i="0">
                <a:solidFill>
                  <a:srgbClr val="1A1A1A"/>
                </a:solidFill>
                <a:latin typeface="Inter"/>
              </a:rPr>
              <a:t>Data Collection &amp; Cleaning</a:t>
            </a:r>
          </a:p>
        </p:txBody>
      </p:sp>
      <p:sp>
        <p:nvSpPr>
          <p:cNvPr id="8" name="TextBox 7"/>
          <p:cNvSpPr txBox="1"/>
          <p:nvPr/>
        </p:nvSpPr>
        <p:spPr>
          <a:xfrm>
            <a:off x="758952" y="2587752"/>
            <a:ext cx="4937760" cy="1005840"/>
          </a:xfrm>
          <a:prstGeom prst="rect">
            <a:avLst/>
          </a:prstGeom>
          <a:noFill/>
        </p:spPr>
        <p:txBody>
          <a:bodyPr wrap="square">
            <a:spAutoFit/>
          </a:bodyPr>
          <a:lstStyle/>
          <a:p>
            <a:pPr algn="l"/>
            <a:r>
              <a:rPr sz="850" b="0" i="0">
                <a:solidFill>
                  <a:srgbClr val="5A5A5A"/>
                </a:solidFill>
                <a:latin typeface="Inter"/>
              </a:rPr>
              <a:t>Synthetic dataset (5,000 obs) calibrated against US Census ABS, McKinsey AI Survey, Stanford AI Index. Missing value imputation, feature engineering — 6 derived variables including digital-tech composite index.</a:t>
            </a:r>
          </a:p>
        </p:txBody>
      </p:sp>
      <p:sp>
        <p:nvSpPr>
          <p:cNvPr id="9" name="Rectangle 8"/>
          <p:cNvSpPr/>
          <p:nvPr/>
        </p:nvSpPr>
        <p:spPr>
          <a:xfrm>
            <a:off x="6355080" y="1691640"/>
            <a:ext cx="5486400" cy="210312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1892808"/>
            <a:ext cx="731520" cy="320040"/>
          </a:xfrm>
          <a:prstGeom prst="rect">
            <a:avLst/>
          </a:prstGeom>
          <a:noFill/>
        </p:spPr>
        <p:txBody>
          <a:bodyPr wrap="square">
            <a:spAutoFit/>
          </a:bodyPr>
          <a:lstStyle/>
          <a:p>
            <a:pPr algn="l"/>
            <a:r>
              <a:rPr sz="900" b="1" i="0">
                <a:solidFill>
                  <a:srgbClr val="C4C4C4"/>
                </a:solidFill>
                <a:latin typeface="Inter"/>
              </a:rPr>
              <a:t>02</a:t>
            </a:r>
          </a:p>
        </p:txBody>
      </p:sp>
      <p:sp>
        <p:nvSpPr>
          <p:cNvPr id="11" name="TextBox 10"/>
          <p:cNvSpPr txBox="1"/>
          <p:nvPr/>
        </p:nvSpPr>
        <p:spPr>
          <a:xfrm>
            <a:off x="6611112" y="2167128"/>
            <a:ext cx="4937760" cy="411480"/>
          </a:xfrm>
          <a:prstGeom prst="rect">
            <a:avLst/>
          </a:prstGeom>
          <a:noFill/>
        </p:spPr>
        <p:txBody>
          <a:bodyPr wrap="square">
            <a:spAutoFit/>
          </a:bodyPr>
          <a:lstStyle/>
          <a:p>
            <a:pPr algn="l"/>
            <a:r>
              <a:rPr sz="1200" b="0" i="0">
                <a:solidFill>
                  <a:srgbClr val="1A1A1A"/>
                </a:solidFill>
                <a:latin typeface="Inter"/>
              </a:rPr>
              <a:t>Exploratory Data Analysis</a:t>
            </a:r>
          </a:p>
        </p:txBody>
      </p:sp>
      <p:sp>
        <p:nvSpPr>
          <p:cNvPr id="12" name="TextBox 11"/>
          <p:cNvSpPr txBox="1"/>
          <p:nvPr/>
        </p:nvSpPr>
        <p:spPr>
          <a:xfrm>
            <a:off x="6611112" y="2587752"/>
            <a:ext cx="4937760" cy="1005840"/>
          </a:xfrm>
          <a:prstGeom prst="rect">
            <a:avLst/>
          </a:prstGeom>
          <a:noFill/>
        </p:spPr>
        <p:txBody>
          <a:bodyPr wrap="square">
            <a:spAutoFit/>
          </a:bodyPr>
          <a:lstStyle/>
          <a:p>
            <a:pPr algn="l"/>
            <a:r>
              <a:rPr sz="850" b="0" i="0">
                <a:solidFill>
                  <a:srgbClr val="5A5A5A"/>
                </a:solidFill>
                <a:latin typeface="Inter"/>
              </a:rPr>
              <a:t>Adoption trajectories across 30 states, 10 industries, 4 company-size cohorts. Identified 2022–2023 inflection point. Correlation analysis confirmed digital maturity as primary predictor (r = 0.71).</a:t>
            </a:r>
          </a:p>
        </p:txBody>
      </p:sp>
      <p:sp>
        <p:nvSpPr>
          <p:cNvPr id="13" name="Rectangle 12"/>
          <p:cNvSpPr/>
          <p:nvPr/>
        </p:nvSpPr>
        <p:spPr>
          <a:xfrm>
            <a:off x="502920" y="4023360"/>
            <a:ext cx="5486400" cy="210312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4224528"/>
            <a:ext cx="731520" cy="320040"/>
          </a:xfrm>
          <a:prstGeom prst="rect">
            <a:avLst/>
          </a:prstGeom>
          <a:noFill/>
        </p:spPr>
        <p:txBody>
          <a:bodyPr wrap="square">
            <a:spAutoFit/>
          </a:bodyPr>
          <a:lstStyle/>
          <a:p>
            <a:pPr algn="l"/>
            <a:r>
              <a:rPr sz="900" b="1" i="0">
                <a:solidFill>
                  <a:srgbClr val="C4C4C4"/>
                </a:solidFill>
                <a:latin typeface="Inter"/>
              </a:rPr>
              <a:t>03</a:t>
            </a:r>
          </a:p>
        </p:txBody>
      </p:sp>
      <p:sp>
        <p:nvSpPr>
          <p:cNvPr id="15" name="TextBox 14"/>
          <p:cNvSpPr txBox="1"/>
          <p:nvPr/>
        </p:nvSpPr>
        <p:spPr>
          <a:xfrm>
            <a:off x="758952" y="4498848"/>
            <a:ext cx="4937760" cy="411480"/>
          </a:xfrm>
          <a:prstGeom prst="rect">
            <a:avLst/>
          </a:prstGeom>
          <a:noFill/>
        </p:spPr>
        <p:txBody>
          <a:bodyPr wrap="square">
            <a:spAutoFit/>
          </a:bodyPr>
          <a:lstStyle/>
          <a:p>
            <a:pPr algn="l"/>
            <a:r>
              <a:rPr sz="1200" b="0" i="0">
                <a:solidFill>
                  <a:srgbClr val="1A1A1A"/>
                </a:solidFill>
                <a:latin typeface="Inter"/>
              </a:rPr>
              <a:t>Classification &amp; Clustering</a:t>
            </a:r>
          </a:p>
        </p:txBody>
      </p:sp>
      <p:sp>
        <p:nvSpPr>
          <p:cNvPr id="16" name="TextBox 15"/>
          <p:cNvSpPr txBox="1"/>
          <p:nvPr/>
        </p:nvSpPr>
        <p:spPr>
          <a:xfrm>
            <a:off x="758952" y="4919472"/>
            <a:ext cx="4937760" cy="1005840"/>
          </a:xfrm>
          <a:prstGeom prst="rect">
            <a:avLst/>
          </a:prstGeom>
          <a:noFill/>
        </p:spPr>
        <p:txBody>
          <a:bodyPr wrap="square">
            <a:spAutoFit/>
          </a:bodyPr>
          <a:lstStyle/>
          <a:p>
            <a:pPr algn="l"/>
            <a:r>
              <a:rPr sz="850" b="0" i="0">
                <a:solidFill>
                  <a:srgbClr val="5A5A5A"/>
                </a:solidFill>
                <a:latin typeface="Inter"/>
              </a:rPr>
              <a:t>Five classifiers trained on ai_adopted target. Gradient Boosting best: F1 = 0.901, ROC-AUC = 0.971. K-Means (k = 4) identified four SME segments with distinct adoption profiles and strategic positions.</a:t>
            </a:r>
          </a:p>
        </p:txBody>
      </p:sp>
      <p:sp>
        <p:nvSpPr>
          <p:cNvPr id="17" name="Rectangle 16"/>
          <p:cNvSpPr/>
          <p:nvPr/>
        </p:nvSpPr>
        <p:spPr>
          <a:xfrm>
            <a:off x="6355080" y="4023360"/>
            <a:ext cx="5486400" cy="210312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1112" y="4224528"/>
            <a:ext cx="731520" cy="320040"/>
          </a:xfrm>
          <a:prstGeom prst="rect">
            <a:avLst/>
          </a:prstGeom>
          <a:noFill/>
        </p:spPr>
        <p:txBody>
          <a:bodyPr wrap="square">
            <a:spAutoFit/>
          </a:bodyPr>
          <a:lstStyle/>
          <a:p>
            <a:pPr algn="l"/>
            <a:r>
              <a:rPr sz="900" b="1" i="0">
                <a:solidFill>
                  <a:srgbClr val="C4C4C4"/>
                </a:solidFill>
                <a:latin typeface="Inter"/>
              </a:rPr>
              <a:t>04</a:t>
            </a:r>
          </a:p>
        </p:txBody>
      </p:sp>
      <p:sp>
        <p:nvSpPr>
          <p:cNvPr id="19" name="TextBox 18"/>
          <p:cNvSpPr txBox="1"/>
          <p:nvPr/>
        </p:nvSpPr>
        <p:spPr>
          <a:xfrm>
            <a:off x="6611112" y="4498848"/>
            <a:ext cx="4937760" cy="411480"/>
          </a:xfrm>
          <a:prstGeom prst="rect">
            <a:avLst/>
          </a:prstGeom>
          <a:noFill/>
        </p:spPr>
        <p:txBody>
          <a:bodyPr wrap="square">
            <a:spAutoFit/>
          </a:bodyPr>
          <a:lstStyle/>
          <a:p>
            <a:pPr algn="l"/>
            <a:r>
              <a:rPr sz="1200" b="0" i="0">
                <a:solidFill>
                  <a:srgbClr val="1A1A1A"/>
                </a:solidFill>
                <a:latin typeface="Inter"/>
              </a:rPr>
              <a:t>Regression Forecast &amp; GenAI Advisor</a:t>
            </a:r>
          </a:p>
        </p:txBody>
      </p:sp>
      <p:sp>
        <p:nvSpPr>
          <p:cNvPr id="20" name="TextBox 19"/>
          <p:cNvSpPr txBox="1"/>
          <p:nvPr/>
        </p:nvSpPr>
        <p:spPr>
          <a:xfrm>
            <a:off x="6611112" y="4919472"/>
            <a:ext cx="4937760" cy="1005840"/>
          </a:xfrm>
          <a:prstGeom prst="rect">
            <a:avLst/>
          </a:prstGeom>
          <a:noFill/>
        </p:spPr>
        <p:txBody>
          <a:bodyPr wrap="square">
            <a:spAutoFit/>
          </a:bodyPr>
          <a:lstStyle/>
          <a:p>
            <a:pPr algn="l"/>
            <a:r>
              <a:rPr sz="850" b="0" i="0">
                <a:solidFill>
                  <a:srgbClr val="5A5A5A"/>
                </a:solidFill>
                <a:latin typeface="Inter"/>
              </a:rPr>
              <a:t>Four regression models project adoption through 2028. Gradient Boosting best: R² = 0.991, RMSE = 0.011. RAG-based advisor built on Anthropic Claude API delivers personalized readiness scores and 90-day roadmaps.</a:t>
            </a:r>
          </a:p>
        </p:txBody>
      </p:sp>
      <p:sp>
        <p:nvSpPr>
          <p:cNvPr id="21" name="TextBox 20"/>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22" name="TextBox 21"/>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04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DATASET</a:t>
            </a:r>
          </a:p>
        </p:txBody>
      </p:sp>
      <p:sp>
        <p:nvSpPr>
          <p:cNvPr id="3" name="TextBox 2"/>
          <p:cNvSpPr txBox="1"/>
          <p:nvPr/>
        </p:nvSpPr>
        <p:spPr>
          <a:xfrm>
            <a:off x="502920" y="777240"/>
            <a:ext cx="7315200" cy="640080"/>
          </a:xfrm>
          <a:prstGeom prst="rect">
            <a:avLst/>
          </a:prstGeom>
          <a:noFill/>
        </p:spPr>
        <p:txBody>
          <a:bodyPr wrap="square">
            <a:spAutoFit/>
          </a:bodyPr>
          <a:lstStyle/>
          <a:p>
            <a:pPr algn="l"/>
            <a:r>
              <a:rPr sz="2800" b="0" i="0">
                <a:solidFill>
                  <a:srgbClr val="1A1A1A"/>
                </a:solidFill>
                <a:latin typeface="Inter"/>
              </a:rPr>
              <a:t>Dataset specifications</a:t>
            </a:r>
          </a:p>
        </p:txBody>
      </p:sp>
      <p:cxnSp>
        <p:nvCxnSpPr>
          <p:cNvPr id="4" name="Connector 3"/>
          <p:cNvCxnSpPr/>
          <p:nvPr/>
        </p:nvCxnSpPr>
        <p:spPr>
          <a:xfrm>
            <a:off x="502920" y="1481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02920" y="1737360"/>
            <a:ext cx="54864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792224"/>
            <a:ext cx="2011680" cy="384048"/>
          </a:xfrm>
          <a:prstGeom prst="rect">
            <a:avLst/>
          </a:prstGeom>
          <a:noFill/>
        </p:spPr>
        <p:txBody>
          <a:bodyPr wrap="square">
            <a:spAutoFit/>
          </a:bodyPr>
          <a:lstStyle/>
          <a:p>
            <a:pPr algn="l"/>
            <a:r>
              <a:rPr sz="800" b="0" i="0">
                <a:solidFill>
                  <a:srgbClr val="8A8A8A"/>
                </a:solidFill>
                <a:latin typeface="Inter"/>
              </a:rPr>
              <a:t>Records</a:t>
            </a:r>
          </a:p>
        </p:txBody>
      </p:sp>
      <p:sp>
        <p:nvSpPr>
          <p:cNvPr id="7" name="TextBox 6"/>
          <p:cNvSpPr txBox="1"/>
          <p:nvPr/>
        </p:nvSpPr>
        <p:spPr>
          <a:xfrm>
            <a:off x="2606040" y="1792224"/>
            <a:ext cx="3383280" cy="384048"/>
          </a:xfrm>
          <a:prstGeom prst="rect">
            <a:avLst/>
          </a:prstGeom>
          <a:noFill/>
        </p:spPr>
        <p:txBody>
          <a:bodyPr wrap="square">
            <a:spAutoFit/>
          </a:bodyPr>
          <a:lstStyle/>
          <a:p>
            <a:pPr algn="l"/>
            <a:r>
              <a:rPr sz="900" b="0" i="0">
                <a:solidFill>
                  <a:srgbClr val="1A1A1A"/>
                </a:solidFill>
                <a:latin typeface="Inter"/>
              </a:rPr>
              <a:t>5,000 SME-year observations</a:t>
            </a:r>
          </a:p>
        </p:txBody>
      </p:sp>
      <p:cxnSp>
        <p:nvCxnSpPr>
          <p:cNvPr id="8" name="Connector 7"/>
          <p:cNvCxnSpPr/>
          <p:nvPr/>
        </p:nvCxnSpPr>
        <p:spPr>
          <a:xfrm>
            <a:off x="502920" y="2212848"/>
            <a:ext cx="54864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2267712"/>
            <a:ext cx="2011680" cy="384048"/>
          </a:xfrm>
          <a:prstGeom prst="rect">
            <a:avLst/>
          </a:prstGeom>
          <a:noFill/>
        </p:spPr>
        <p:txBody>
          <a:bodyPr wrap="square">
            <a:spAutoFit/>
          </a:bodyPr>
          <a:lstStyle/>
          <a:p>
            <a:pPr algn="l"/>
            <a:r>
              <a:rPr sz="800" b="0" i="0">
                <a:solidFill>
                  <a:srgbClr val="8A8A8A"/>
                </a:solidFill>
                <a:latin typeface="Inter"/>
              </a:rPr>
              <a:t>Years</a:t>
            </a:r>
          </a:p>
        </p:txBody>
      </p:sp>
      <p:sp>
        <p:nvSpPr>
          <p:cNvPr id="10" name="TextBox 9"/>
          <p:cNvSpPr txBox="1"/>
          <p:nvPr/>
        </p:nvSpPr>
        <p:spPr>
          <a:xfrm>
            <a:off x="2606040" y="2267712"/>
            <a:ext cx="3383280" cy="384048"/>
          </a:xfrm>
          <a:prstGeom prst="rect">
            <a:avLst/>
          </a:prstGeom>
          <a:noFill/>
        </p:spPr>
        <p:txBody>
          <a:bodyPr wrap="square">
            <a:spAutoFit/>
          </a:bodyPr>
          <a:lstStyle/>
          <a:p>
            <a:pPr algn="l"/>
            <a:r>
              <a:rPr sz="900" b="0" i="0">
                <a:solidFill>
                  <a:srgbClr val="1A1A1A"/>
                </a:solidFill>
                <a:latin typeface="Inter"/>
              </a:rPr>
              <a:t>2019 – 2024  (6 years)</a:t>
            </a:r>
          </a:p>
        </p:txBody>
      </p:sp>
      <p:cxnSp>
        <p:nvCxnSpPr>
          <p:cNvPr id="11" name="Connector 10"/>
          <p:cNvCxnSpPr/>
          <p:nvPr/>
        </p:nvCxnSpPr>
        <p:spPr>
          <a:xfrm>
            <a:off x="502920" y="2688336"/>
            <a:ext cx="54864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2743200"/>
            <a:ext cx="2011680" cy="384048"/>
          </a:xfrm>
          <a:prstGeom prst="rect">
            <a:avLst/>
          </a:prstGeom>
          <a:noFill/>
        </p:spPr>
        <p:txBody>
          <a:bodyPr wrap="square">
            <a:spAutoFit/>
          </a:bodyPr>
          <a:lstStyle/>
          <a:p>
            <a:pPr algn="l"/>
            <a:r>
              <a:rPr sz="800" b="0" i="0">
                <a:solidFill>
                  <a:srgbClr val="8A8A8A"/>
                </a:solidFill>
                <a:latin typeface="Inter"/>
              </a:rPr>
              <a:t>Industries</a:t>
            </a:r>
          </a:p>
        </p:txBody>
      </p:sp>
      <p:sp>
        <p:nvSpPr>
          <p:cNvPr id="13" name="TextBox 12"/>
          <p:cNvSpPr txBox="1"/>
          <p:nvPr/>
        </p:nvSpPr>
        <p:spPr>
          <a:xfrm>
            <a:off x="2606040" y="2743200"/>
            <a:ext cx="3383280" cy="384048"/>
          </a:xfrm>
          <a:prstGeom prst="rect">
            <a:avLst/>
          </a:prstGeom>
          <a:noFill/>
        </p:spPr>
        <p:txBody>
          <a:bodyPr wrap="square">
            <a:spAutoFit/>
          </a:bodyPr>
          <a:lstStyle/>
          <a:p>
            <a:pPr algn="l"/>
            <a:r>
              <a:rPr sz="900" b="0" i="0">
                <a:solidFill>
                  <a:srgbClr val="1A1A1A"/>
                </a:solidFill>
                <a:latin typeface="Inter"/>
              </a:rPr>
              <a:t>10 sectors</a:t>
            </a:r>
          </a:p>
        </p:txBody>
      </p:sp>
      <p:cxnSp>
        <p:nvCxnSpPr>
          <p:cNvPr id="14" name="Connector 13"/>
          <p:cNvCxnSpPr/>
          <p:nvPr/>
        </p:nvCxnSpPr>
        <p:spPr>
          <a:xfrm>
            <a:off x="502920" y="3163824"/>
            <a:ext cx="54864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2920" y="3218688"/>
            <a:ext cx="2011680" cy="384048"/>
          </a:xfrm>
          <a:prstGeom prst="rect">
            <a:avLst/>
          </a:prstGeom>
          <a:noFill/>
        </p:spPr>
        <p:txBody>
          <a:bodyPr wrap="square">
            <a:spAutoFit/>
          </a:bodyPr>
          <a:lstStyle/>
          <a:p>
            <a:pPr algn="l"/>
            <a:r>
              <a:rPr sz="800" b="0" i="0">
                <a:solidFill>
                  <a:srgbClr val="8A8A8A"/>
                </a:solidFill>
                <a:latin typeface="Inter"/>
              </a:rPr>
              <a:t>US states</a:t>
            </a:r>
          </a:p>
        </p:txBody>
      </p:sp>
      <p:sp>
        <p:nvSpPr>
          <p:cNvPr id="16" name="TextBox 15"/>
          <p:cNvSpPr txBox="1"/>
          <p:nvPr/>
        </p:nvSpPr>
        <p:spPr>
          <a:xfrm>
            <a:off x="2606040" y="3218688"/>
            <a:ext cx="3383280" cy="384048"/>
          </a:xfrm>
          <a:prstGeom prst="rect">
            <a:avLst/>
          </a:prstGeom>
          <a:noFill/>
        </p:spPr>
        <p:txBody>
          <a:bodyPr wrap="square">
            <a:spAutoFit/>
          </a:bodyPr>
          <a:lstStyle/>
          <a:p>
            <a:pPr algn="l"/>
            <a:r>
              <a:rPr sz="900" b="0" i="0">
                <a:solidFill>
                  <a:srgbClr val="1A1A1A"/>
                </a:solidFill>
                <a:latin typeface="Inter"/>
              </a:rPr>
              <a:t>30</a:t>
            </a:r>
          </a:p>
        </p:txBody>
      </p:sp>
      <p:cxnSp>
        <p:nvCxnSpPr>
          <p:cNvPr id="17" name="Connector 16"/>
          <p:cNvCxnSpPr/>
          <p:nvPr/>
        </p:nvCxnSpPr>
        <p:spPr>
          <a:xfrm>
            <a:off x="502920" y="3639312"/>
            <a:ext cx="54864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3694176"/>
            <a:ext cx="2011680" cy="384048"/>
          </a:xfrm>
          <a:prstGeom prst="rect">
            <a:avLst/>
          </a:prstGeom>
          <a:noFill/>
        </p:spPr>
        <p:txBody>
          <a:bodyPr wrap="square">
            <a:spAutoFit/>
          </a:bodyPr>
          <a:lstStyle/>
          <a:p>
            <a:pPr algn="l"/>
            <a:r>
              <a:rPr sz="800" b="0" i="0">
                <a:solidFill>
                  <a:srgbClr val="8A8A8A"/>
                </a:solidFill>
                <a:latin typeface="Inter"/>
              </a:rPr>
              <a:t>Features</a:t>
            </a:r>
          </a:p>
        </p:txBody>
      </p:sp>
      <p:sp>
        <p:nvSpPr>
          <p:cNvPr id="19" name="TextBox 18"/>
          <p:cNvSpPr txBox="1"/>
          <p:nvPr/>
        </p:nvSpPr>
        <p:spPr>
          <a:xfrm>
            <a:off x="2606040" y="3694176"/>
            <a:ext cx="3383280" cy="384048"/>
          </a:xfrm>
          <a:prstGeom prst="rect">
            <a:avLst/>
          </a:prstGeom>
          <a:noFill/>
        </p:spPr>
        <p:txBody>
          <a:bodyPr wrap="square">
            <a:spAutoFit/>
          </a:bodyPr>
          <a:lstStyle/>
          <a:p>
            <a:pPr algn="l"/>
            <a:r>
              <a:rPr sz="900" b="0" i="0">
                <a:solidFill>
                  <a:srgbClr val="1A1A1A"/>
                </a:solidFill>
                <a:latin typeface="Inter"/>
              </a:rPr>
              <a:t>18 variables</a:t>
            </a:r>
          </a:p>
        </p:txBody>
      </p:sp>
      <p:cxnSp>
        <p:nvCxnSpPr>
          <p:cNvPr id="20" name="Connector 19"/>
          <p:cNvCxnSpPr/>
          <p:nvPr/>
        </p:nvCxnSpPr>
        <p:spPr>
          <a:xfrm>
            <a:off x="502920" y="4114800"/>
            <a:ext cx="54864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2920" y="4169664"/>
            <a:ext cx="2011680" cy="384048"/>
          </a:xfrm>
          <a:prstGeom prst="rect">
            <a:avLst/>
          </a:prstGeom>
          <a:noFill/>
        </p:spPr>
        <p:txBody>
          <a:bodyPr wrap="square">
            <a:spAutoFit/>
          </a:bodyPr>
          <a:lstStyle/>
          <a:p>
            <a:pPr algn="l"/>
            <a:r>
              <a:rPr sz="800" b="0" i="0">
                <a:solidFill>
                  <a:srgbClr val="8A8A8A"/>
                </a:solidFill>
                <a:latin typeface="Inter"/>
              </a:rPr>
              <a:t>Target</a:t>
            </a:r>
          </a:p>
        </p:txBody>
      </p:sp>
      <p:sp>
        <p:nvSpPr>
          <p:cNvPr id="22" name="TextBox 21"/>
          <p:cNvSpPr txBox="1"/>
          <p:nvPr/>
        </p:nvSpPr>
        <p:spPr>
          <a:xfrm>
            <a:off x="2606040" y="4169664"/>
            <a:ext cx="3383280" cy="384048"/>
          </a:xfrm>
          <a:prstGeom prst="rect">
            <a:avLst/>
          </a:prstGeom>
          <a:noFill/>
        </p:spPr>
        <p:txBody>
          <a:bodyPr wrap="square">
            <a:spAutoFit/>
          </a:bodyPr>
          <a:lstStyle/>
          <a:p>
            <a:pPr algn="l"/>
            <a:r>
              <a:rPr sz="900" b="0" i="0">
                <a:solidFill>
                  <a:srgbClr val="1A1A1A"/>
                </a:solidFill>
                <a:latin typeface="Inter"/>
              </a:rPr>
              <a:t>ai_adopted  (0 / 1)</a:t>
            </a:r>
          </a:p>
        </p:txBody>
      </p:sp>
      <p:cxnSp>
        <p:nvCxnSpPr>
          <p:cNvPr id="23" name="Connector 22"/>
          <p:cNvCxnSpPr/>
          <p:nvPr/>
        </p:nvCxnSpPr>
        <p:spPr>
          <a:xfrm>
            <a:off x="502920" y="4590288"/>
            <a:ext cx="54864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4645152"/>
            <a:ext cx="2011680" cy="384048"/>
          </a:xfrm>
          <a:prstGeom prst="rect">
            <a:avLst/>
          </a:prstGeom>
          <a:noFill/>
        </p:spPr>
        <p:txBody>
          <a:bodyPr wrap="square">
            <a:spAutoFit/>
          </a:bodyPr>
          <a:lstStyle/>
          <a:p>
            <a:pPr algn="l"/>
            <a:r>
              <a:rPr sz="800" b="0" i="0">
                <a:solidFill>
                  <a:srgbClr val="8A8A8A"/>
                </a:solidFill>
                <a:latin typeface="Inter"/>
              </a:rPr>
              <a:t>Source</a:t>
            </a:r>
          </a:p>
        </p:txBody>
      </p:sp>
      <p:sp>
        <p:nvSpPr>
          <p:cNvPr id="25" name="TextBox 24"/>
          <p:cNvSpPr txBox="1"/>
          <p:nvPr/>
        </p:nvSpPr>
        <p:spPr>
          <a:xfrm>
            <a:off x="2606040" y="4645152"/>
            <a:ext cx="3383280" cy="384048"/>
          </a:xfrm>
          <a:prstGeom prst="rect">
            <a:avLst/>
          </a:prstGeom>
          <a:noFill/>
        </p:spPr>
        <p:txBody>
          <a:bodyPr wrap="square">
            <a:spAutoFit/>
          </a:bodyPr>
          <a:lstStyle/>
          <a:p>
            <a:pPr algn="l"/>
            <a:r>
              <a:rPr sz="900" b="0" i="0">
                <a:solidFill>
                  <a:srgbClr val="1A1A1A"/>
                </a:solidFill>
                <a:latin typeface="Inter"/>
              </a:rPr>
              <a:t>US Census ABS · McKinsey · Stanford AI Index</a:t>
            </a:r>
          </a:p>
        </p:txBody>
      </p:sp>
      <p:cxnSp>
        <p:nvCxnSpPr>
          <p:cNvPr id="26" name="Connector 25"/>
          <p:cNvCxnSpPr/>
          <p:nvPr/>
        </p:nvCxnSpPr>
        <p:spPr>
          <a:xfrm>
            <a:off x="502920" y="5065776"/>
            <a:ext cx="54864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583680" y="1691640"/>
            <a:ext cx="5303520" cy="420624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0" y="1828800"/>
            <a:ext cx="9144000" cy="274320"/>
          </a:xfrm>
          <a:prstGeom prst="rect">
            <a:avLst/>
          </a:prstGeom>
          <a:noFill/>
        </p:spPr>
        <p:txBody>
          <a:bodyPr wrap="square">
            <a:spAutoFit/>
          </a:bodyPr>
          <a:lstStyle/>
          <a:p>
            <a:pPr algn="l"/>
            <a:r>
              <a:rPr sz="700" b="1" i="0">
                <a:solidFill>
                  <a:srgbClr val="8A8A8A"/>
                </a:solidFill>
                <a:latin typeface="Inter"/>
              </a:rPr>
              <a:t>KEY PREDICTIVE FEATURES</a:t>
            </a:r>
          </a:p>
        </p:txBody>
      </p:sp>
      <p:cxnSp>
        <p:nvCxnSpPr>
          <p:cNvPr id="29" name="Connector 28"/>
          <p:cNvCxnSpPr/>
          <p:nvPr/>
        </p:nvCxnSpPr>
        <p:spPr>
          <a:xfrm>
            <a:off x="6858000" y="2176272"/>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858000" y="2221992"/>
            <a:ext cx="2194560" cy="347472"/>
          </a:xfrm>
          <a:prstGeom prst="rect">
            <a:avLst/>
          </a:prstGeom>
          <a:noFill/>
        </p:spPr>
        <p:txBody>
          <a:bodyPr wrap="square">
            <a:spAutoFit/>
          </a:bodyPr>
          <a:lstStyle/>
          <a:p>
            <a:pPr algn="l"/>
            <a:r>
              <a:rPr sz="800" b="0" i="0">
                <a:solidFill>
                  <a:srgbClr val="1A1A1A"/>
                </a:solidFill>
                <a:latin typeface="Inter"/>
              </a:rPr>
              <a:t>digital_maturity</a:t>
            </a:r>
          </a:p>
        </p:txBody>
      </p:sp>
      <p:sp>
        <p:nvSpPr>
          <p:cNvPr id="31" name="TextBox 30"/>
          <p:cNvSpPr txBox="1"/>
          <p:nvPr/>
        </p:nvSpPr>
        <p:spPr>
          <a:xfrm>
            <a:off x="9098280" y="2221992"/>
            <a:ext cx="2560320" cy="347472"/>
          </a:xfrm>
          <a:prstGeom prst="rect">
            <a:avLst/>
          </a:prstGeom>
          <a:noFill/>
        </p:spPr>
        <p:txBody>
          <a:bodyPr wrap="square">
            <a:spAutoFit/>
          </a:bodyPr>
          <a:lstStyle/>
          <a:p>
            <a:pPr algn="l"/>
            <a:r>
              <a:rPr sz="750" b="0" i="0">
                <a:solidFill>
                  <a:srgbClr val="5A5A5A"/>
                </a:solidFill>
                <a:latin typeface="Inter"/>
              </a:rPr>
              <a:t>Composite digital readiness score (0–10)</a:t>
            </a:r>
          </a:p>
        </p:txBody>
      </p:sp>
      <p:cxnSp>
        <p:nvCxnSpPr>
          <p:cNvPr id="32" name="Connector 31"/>
          <p:cNvCxnSpPr/>
          <p:nvPr/>
        </p:nvCxnSpPr>
        <p:spPr>
          <a:xfrm>
            <a:off x="6858000" y="2624328"/>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858000" y="2670048"/>
            <a:ext cx="2194560" cy="347472"/>
          </a:xfrm>
          <a:prstGeom prst="rect">
            <a:avLst/>
          </a:prstGeom>
          <a:noFill/>
        </p:spPr>
        <p:txBody>
          <a:bodyPr wrap="square">
            <a:spAutoFit/>
          </a:bodyPr>
          <a:lstStyle/>
          <a:p>
            <a:pPr algn="l"/>
            <a:r>
              <a:rPr sz="800" b="0" i="0">
                <a:solidFill>
                  <a:srgbClr val="1A1A1A"/>
                </a:solidFill>
                <a:latin typeface="Inter"/>
              </a:rPr>
              <a:t>cloud_adopted</a:t>
            </a:r>
          </a:p>
        </p:txBody>
      </p:sp>
      <p:sp>
        <p:nvSpPr>
          <p:cNvPr id="34" name="TextBox 33"/>
          <p:cNvSpPr txBox="1"/>
          <p:nvPr/>
        </p:nvSpPr>
        <p:spPr>
          <a:xfrm>
            <a:off x="9098280" y="2670048"/>
            <a:ext cx="2560320" cy="347472"/>
          </a:xfrm>
          <a:prstGeom prst="rect">
            <a:avLst/>
          </a:prstGeom>
          <a:noFill/>
        </p:spPr>
        <p:txBody>
          <a:bodyPr wrap="square">
            <a:spAutoFit/>
          </a:bodyPr>
          <a:lstStyle/>
          <a:p>
            <a:pPr algn="l"/>
            <a:r>
              <a:rPr sz="750" b="0" i="0">
                <a:solidFill>
                  <a:srgbClr val="5A5A5A"/>
                </a:solidFill>
                <a:latin typeface="Inter"/>
              </a:rPr>
              <a:t>Binary — cloud infrastructure in place</a:t>
            </a:r>
          </a:p>
        </p:txBody>
      </p:sp>
      <p:cxnSp>
        <p:nvCxnSpPr>
          <p:cNvPr id="35" name="Connector 34"/>
          <p:cNvCxnSpPr/>
          <p:nvPr/>
        </p:nvCxnSpPr>
        <p:spPr>
          <a:xfrm>
            <a:off x="6858000" y="3072384"/>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58000" y="3118104"/>
            <a:ext cx="2194560" cy="347472"/>
          </a:xfrm>
          <a:prstGeom prst="rect">
            <a:avLst/>
          </a:prstGeom>
          <a:noFill/>
        </p:spPr>
        <p:txBody>
          <a:bodyPr wrap="square">
            <a:spAutoFit/>
          </a:bodyPr>
          <a:lstStyle/>
          <a:p>
            <a:pPr algn="l"/>
            <a:r>
              <a:rPr sz="800" b="0" i="0">
                <a:solidFill>
                  <a:srgbClr val="1A1A1A"/>
                </a:solidFill>
                <a:latin typeface="Inter"/>
              </a:rPr>
              <a:t>tech_invest_pct</a:t>
            </a:r>
          </a:p>
        </p:txBody>
      </p:sp>
      <p:sp>
        <p:nvSpPr>
          <p:cNvPr id="37" name="TextBox 36"/>
          <p:cNvSpPr txBox="1"/>
          <p:nvPr/>
        </p:nvSpPr>
        <p:spPr>
          <a:xfrm>
            <a:off x="9098280" y="3118104"/>
            <a:ext cx="2560320" cy="347472"/>
          </a:xfrm>
          <a:prstGeom prst="rect">
            <a:avLst/>
          </a:prstGeom>
          <a:noFill/>
        </p:spPr>
        <p:txBody>
          <a:bodyPr wrap="square">
            <a:spAutoFit/>
          </a:bodyPr>
          <a:lstStyle/>
          <a:p>
            <a:pPr algn="l"/>
            <a:r>
              <a:rPr sz="750" b="0" i="0">
                <a:solidFill>
                  <a:srgbClr val="5A5A5A"/>
                </a:solidFill>
                <a:latin typeface="Inter"/>
              </a:rPr>
              <a:t>Technology spend as % of revenue</a:t>
            </a:r>
          </a:p>
        </p:txBody>
      </p:sp>
      <p:cxnSp>
        <p:nvCxnSpPr>
          <p:cNvPr id="38" name="Connector 37"/>
          <p:cNvCxnSpPr/>
          <p:nvPr/>
        </p:nvCxnSpPr>
        <p:spPr>
          <a:xfrm>
            <a:off x="6858000" y="3520440"/>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858000" y="3566160"/>
            <a:ext cx="2194560" cy="347472"/>
          </a:xfrm>
          <a:prstGeom prst="rect">
            <a:avLst/>
          </a:prstGeom>
          <a:noFill/>
        </p:spPr>
        <p:txBody>
          <a:bodyPr wrap="square">
            <a:spAutoFit/>
          </a:bodyPr>
          <a:lstStyle/>
          <a:p>
            <a:pPr algn="l"/>
            <a:r>
              <a:rPr sz="800" b="0" i="0">
                <a:solidFill>
                  <a:srgbClr val="1A1A1A"/>
                </a:solidFill>
                <a:latin typeface="Inter"/>
              </a:rPr>
              <a:t>has_data_strategy</a:t>
            </a:r>
          </a:p>
        </p:txBody>
      </p:sp>
      <p:sp>
        <p:nvSpPr>
          <p:cNvPr id="40" name="TextBox 39"/>
          <p:cNvSpPr txBox="1"/>
          <p:nvPr/>
        </p:nvSpPr>
        <p:spPr>
          <a:xfrm>
            <a:off x="9098280" y="3566160"/>
            <a:ext cx="2560320" cy="347472"/>
          </a:xfrm>
          <a:prstGeom prst="rect">
            <a:avLst/>
          </a:prstGeom>
          <a:noFill/>
        </p:spPr>
        <p:txBody>
          <a:bodyPr wrap="square">
            <a:spAutoFit/>
          </a:bodyPr>
          <a:lstStyle/>
          <a:p>
            <a:pPr algn="l"/>
            <a:r>
              <a:rPr sz="750" b="0" i="0">
                <a:solidFill>
                  <a:srgbClr val="5A5A5A"/>
                </a:solidFill>
                <a:latin typeface="Inter"/>
              </a:rPr>
              <a:t>Binary — formal data strategy exists</a:t>
            </a:r>
          </a:p>
        </p:txBody>
      </p:sp>
      <p:cxnSp>
        <p:nvCxnSpPr>
          <p:cNvPr id="41" name="Connector 40"/>
          <p:cNvCxnSpPr/>
          <p:nvPr/>
        </p:nvCxnSpPr>
        <p:spPr>
          <a:xfrm>
            <a:off x="6858000" y="3968496"/>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858000" y="4014216"/>
            <a:ext cx="2194560" cy="347472"/>
          </a:xfrm>
          <a:prstGeom prst="rect">
            <a:avLst/>
          </a:prstGeom>
          <a:noFill/>
        </p:spPr>
        <p:txBody>
          <a:bodyPr wrap="square">
            <a:spAutoFit/>
          </a:bodyPr>
          <a:lstStyle/>
          <a:p>
            <a:pPr algn="l"/>
            <a:r>
              <a:rPr sz="800" b="0" i="0">
                <a:solidFill>
                  <a:srgbClr val="1A1A1A"/>
                </a:solidFill>
                <a:latin typeface="Inter"/>
              </a:rPr>
              <a:t>ceo_tech_background</a:t>
            </a:r>
          </a:p>
        </p:txBody>
      </p:sp>
      <p:sp>
        <p:nvSpPr>
          <p:cNvPr id="43" name="TextBox 42"/>
          <p:cNvSpPr txBox="1"/>
          <p:nvPr/>
        </p:nvSpPr>
        <p:spPr>
          <a:xfrm>
            <a:off x="9098280" y="4014216"/>
            <a:ext cx="2560320" cy="347472"/>
          </a:xfrm>
          <a:prstGeom prst="rect">
            <a:avLst/>
          </a:prstGeom>
          <a:noFill/>
        </p:spPr>
        <p:txBody>
          <a:bodyPr wrap="square">
            <a:spAutoFit/>
          </a:bodyPr>
          <a:lstStyle/>
          <a:p>
            <a:pPr algn="l"/>
            <a:r>
              <a:rPr sz="750" b="0" i="0">
                <a:solidFill>
                  <a:srgbClr val="5A5A5A"/>
                </a:solidFill>
                <a:latin typeface="Inter"/>
              </a:rPr>
              <a:t>Binary — CEO with technology background</a:t>
            </a:r>
          </a:p>
        </p:txBody>
      </p:sp>
      <p:cxnSp>
        <p:nvCxnSpPr>
          <p:cNvPr id="44" name="Connector 43"/>
          <p:cNvCxnSpPr/>
          <p:nvPr/>
        </p:nvCxnSpPr>
        <p:spPr>
          <a:xfrm>
            <a:off x="6858000" y="4416552"/>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858000" y="4462272"/>
            <a:ext cx="2194560" cy="347472"/>
          </a:xfrm>
          <a:prstGeom prst="rect">
            <a:avLst/>
          </a:prstGeom>
          <a:noFill/>
        </p:spPr>
        <p:txBody>
          <a:bodyPr wrap="square">
            <a:spAutoFit/>
          </a:bodyPr>
          <a:lstStyle/>
          <a:p>
            <a:pPr algn="l"/>
            <a:r>
              <a:rPr sz="800" b="0" i="0">
                <a:solidFill>
                  <a:srgbClr val="1A1A1A"/>
                </a:solidFill>
                <a:latin typeface="Inter"/>
              </a:rPr>
              <a:t>employees</a:t>
            </a:r>
          </a:p>
        </p:txBody>
      </p:sp>
      <p:sp>
        <p:nvSpPr>
          <p:cNvPr id="46" name="TextBox 45"/>
          <p:cNvSpPr txBox="1"/>
          <p:nvPr/>
        </p:nvSpPr>
        <p:spPr>
          <a:xfrm>
            <a:off x="9098280" y="4462272"/>
            <a:ext cx="2560320" cy="347472"/>
          </a:xfrm>
          <a:prstGeom prst="rect">
            <a:avLst/>
          </a:prstGeom>
          <a:noFill/>
        </p:spPr>
        <p:txBody>
          <a:bodyPr wrap="square">
            <a:spAutoFit/>
          </a:bodyPr>
          <a:lstStyle/>
          <a:p>
            <a:pPr algn="l"/>
            <a:r>
              <a:rPr sz="750" b="0" i="0">
                <a:solidFill>
                  <a:srgbClr val="5A5A5A"/>
                </a:solidFill>
                <a:latin typeface="Inter"/>
              </a:rPr>
              <a:t>Company headcount (1–499)</a:t>
            </a:r>
          </a:p>
        </p:txBody>
      </p:sp>
      <p:cxnSp>
        <p:nvCxnSpPr>
          <p:cNvPr id="47" name="Connector 46"/>
          <p:cNvCxnSpPr/>
          <p:nvPr/>
        </p:nvCxnSpPr>
        <p:spPr>
          <a:xfrm>
            <a:off x="6858000" y="4864608"/>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858000" y="4910328"/>
            <a:ext cx="2194560" cy="347472"/>
          </a:xfrm>
          <a:prstGeom prst="rect">
            <a:avLst/>
          </a:prstGeom>
          <a:noFill/>
        </p:spPr>
        <p:txBody>
          <a:bodyPr wrap="square">
            <a:spAutoFit/>
          </a:bodyPr>
          <a:lstStyle/>
          <a:p>
            <a:pPr algn="l"/>
            <a:r>
              <a:rPr sz="800" b="0" i="0">
                <a:solidFill>
                  <a:srgbClr val="1A1A1A"/>
                </a:solidFill>
                <a:latin typeface="Inter"/>
              </a:rPr>
              <a:t>revenue_m_usd</a:t>
            </a:r>
          </a:p>
        </p:txBody>
      </p:sp>
      <p:sp>
        <p:nvSpPr>
          <p:cNvPr id="49" name="TextBox 48"/>
          <p:cNvSpPr txBox="1"/>
          <p:nvPr/>
        </p:nvSpPr>
        <p:spPr>
          <a:xfrm>
            <a:off x="9098280" y="4910328"/>
            <a:ext cx="2560320" cy="347472"/>
          </a:xfrm>
          <a:prstGeom prst="rect">
            <a:avLst/>
          </a:prstGeom>
          <a:noFill/>
        </p:spPr>
        <p:txBody>
          <a:bodyPr wrap="square">
            <a:spAutoFit/>
          </a:bodyPr>
          <a:lstStyle/>
          <a:p>
            <a:pPr algn="l"/>
            <a:r>
              <a:rPr sz="750" b="0" i="0">
                <a:solidFill>
                  <a:srgbClr val="5A5A5A"/>
                </a:solidFill>
                <a:latin typeface="Inter"/>
              </a:rPr>
              <a:t>Annual revenue in millions USD</a:t>
            </a:r>
          </a:p>
        </p:txBody>
      </p:sp>
      <p:cxnSp>
        <p:nvCxnSpPr>
          <p:cNvPr id="50" name="Connector 49"/>
          <p:cNvCxnSpPr/>
          <p:nvPr/>
        </p:nvCxnSpPr>
        <p:spPr>
          <a:xfrm>
            <a:off x="6858000" y="5312664"/>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858000" y="5358384"/>
            <a:ext cx="2194560" cy="347472"/>
          </a:xfrm>
          <a:prstGeom prst="rect">
            <a:avLst/>
          </a:prstGeom>
          <a:noFill/>
        </p:spPr>
        <p:txBody>
          <a:bodyPr wrap="square">
            <a:spAutoFit/>
          </a:bodyPr>
          <a:lstStyle/>
          <a:p>
            <a:pPr algn="l"/>
            <a:r>
              <a:rPr sz="800" b="0" i="0">
                <a:solidFill>
                  <a:srgbClr val="1A1A1A"/>
                </a:solidFill>
                <a:latin typeface="Inter"/>
              </a:rPr>
              <a:t>primary_barrier</a:t>
            </a:r>
          </a:p>
        </p:txBody>
      </p:sp>
      <p:sp>
        <p:nvSpPr>
          <p:cNvPr id="52" name="TextBox 51"/>
          <p:cNvSpPr txBox="1"/>
          <p:nvPr/>
        </p:nvSpPr>
        <p:spPr>
          <a:xfrm>
            <a:off x="9098280" y="5358384"/>
            <a:ext cx="2560320" cy="347472"/>
          </a:xfrm>
          <a:prstGeom prst="rect">
            <a:avLst/>
          </a:prstGeom>
          <a:noFill/>
        </p:spPr>
        <p:txBody>
          <a:bodyPr wrap="square">
            <a:spAutoFit/>
          </a:bodyPr>
          <a:lstStyle/>
          <a:p>
            <a:pPr algn="l"/>
            <a:r>
              <a:rPr sz="750" b="0" i="0">
                <a:solidFill>
                  <a:srgbClr val="5A5A5A"/>
                </a:solidFill>
                <a:latin typeface="Inter"/>
              </a:rPr>
              <a:t>Main obstacle to AI adoption (categorical)</a:t>
            </a:r>
          </a:p>
        </p:txBody>
      </p:sp>
      <p:cxnSp>
        <p:nvCxnSpPr>
          <p:cNvPr id="53" name="Connector 52"/>
          <p:cNvCxnSpPr/>
          <p:nvPr/>
        </p:nvCxnSpPr>
        <p:spPr>
          <a:xfrm>
            <a:off x="6858000" y="5760720"/>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55" name="TextBox 54"/>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05 / 17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FINDING 01 OF 06</a:t>
            </a:r>
          </a:p>
        </p:txBody>
      </p:sp>
      <p:cxnSp>
        <p:nvCxnSpPr>
          <p:cNvPr id="3" name="Connector 2"/>
          <p:cNvCxnSpPr/>
          <p:nvPr/>
        </p:nvCxnSpPr>
        <p:spPr>
          <a:xfrm>
            <a:off x="502920" y="822960"/>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960120"/>
            <a:ext cx="5029200" cy="2560320"/>
          </a:xfrm>
          <a:prstGeom prst="rect">
            <a:avLst/>
          </a:prstGeom>
          <a:noFill/>
        </p:spPr>
        <p:txBody>
          <a:bodyPr wrap="square">
            <a:spAutoFit/>
          </a:bodyPr>
          <a:lstStyle/>
          <a:p>
            <a:pPr algn="l"/>
            <a:r>
              <a:rPr sz="12000" b="0" i="0">
                <a:solidFill>
                  <a:srgbClr val="1A1A1A"/>
                </a:solidFill>
                <a:latin typeface="Inter"/>
              </a:rPr>
              <a:t>0.71</a:t>
            </a:r>
          </a:p>
        </p:txBody>
      </p:sp>
      <p:sp>
        <p:nvSpPr>
          <p:cNvPr id="5" name="TextBox 4"/>
          <p:cNvSpPr txBox="1"/>
          <p:nvPr/>
        </p:nvSpPr>
        <p:spPr>
          <a:xfrm>
            <a:off x="502920" y="3520440"/>
            <a:ext cx="9144000" cy="274320"/>
          </a:xfrm>
          <a:prstGeom prst="rect">
            <a:avLst/>
          </a:prstGeom>
          <a:noFill/>
        </p:spPr>
        <p:txBody>
          <a:bodyPr wrap="square">
            <a:spAutoFit/>
          </a:bodyPr>
          <a:lstStyle/>
          <a:p>
            <a:pPr algn="l"/>
            <a:r>
              <a:rPr sz="700" b="1" i="0">
                <a:solidFill>
                  <a:srgbClr val="8A8A8A"/>
                </a:solidFill>
                <a:latin typeface="Inter"/>
              </a:rPr>
              <a:t>PEARSON CORRELATION — DIGITAL MATURITY VS. AI ADOPTION</a:t>
            </a:r>
          </a:p>
        </p:txBody>
      </p:sp>
      <p:cxnSp>
        <p:nvCxnSpPr>
          <p:cNvPr id="6" name="Connector 5"/>
          <p:cNvCxnSpPr/>
          <p:nvPr/>
        </p:nvCxnSpPr>
        <p:spPr>
          <a:xfrm>
            <a:off x="502920" y="3767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3886200"/>
            <a:ext cx="7315200" cy="594360"/>
          </a:xfrm>
          <a:prstGeom prst="rect">
            <a:avLst/>
          </a:prstGeom>
          <a:noFill/>
        </p:spPr>
        <p:txBody>
          <a:bodyPr wrap="square">
            <a:spAutoFit/>
          </a:bodyPr>
          <a:lstStyle/>
          <a:p>
            <a:pPr algn="l"/>
            <a:r>
              <a:rPr sz="2200" b="0" i="0">
                <a:solidFill>
                  <a:srgbClr val="1A1A1A"/>
                </a:solidFill>
                <a:latin typeface="Inter"/>
              </a:rPr>
              <a:t>Digital maturity is the primary predictor</a:t>
            </a:r>
          </a:p>
        </p:txBody>
      </p:sp>
      <p:sp>
        <p:nvSpPr>
          <p:cNvPr id="8" name="TextBox 7"/>
          <p:cNvSpPr txBox="1"/>
          <p:nvPr/>
        </p:nvSpPr>
        <p:spPr>
          <a:xfrm>
            <a:off x="502920" y="4526280"/>
            <a:ext cx="6858000" cy="1691640"/>
          </a:xfrm>
          <a:prstGeom prst="rect">
            <a:avLst/>
          </a:prstGeom>
          <a:noFill/>
        </p:spPr>
        <p:txBody>
          <a:bodyPr wrap="square">
            <a:spAutoFit/>
          </a:bodyPr>
          <a:lstStyle/>
          <a:p>
            <a:pPr algn="l"/>
            <a:r>
              <a:rPr sz="1000" b="0" i="0">
                <a:solidFill>
                  <a:srgbClr val="5A5A5A"/>
                </a:solidFill>
                <a:latin typeface="Inter"/>
              </a:rPr>
              <a:t>Among all 18 variables analyzed, digital maturity score showed the strongest correlation with AI adoption. Companies in the top quartile adopted AI at 4.2× the rate of those in the bottom quartile — independent of company size or revenue.
The implication is strategic: AI readiness is built, not bought. Organizations that invested in digital foundations in 2019–2021 are capturing compounding returns today.</a:t>
            </a:r>
          </a:p>
        </p:txBody>
      </p:sp>
      <p:sp>
        <p:nvSpPr>
          <p:cNvPr id="9" name="Rectangle 8"/>
          <p:cNvSpPr/>
          <p:nvPr/>
        </p:nvSpPr>
        <p:spPr>
          <a:xfrm>
            <a:off x="8412480" y="960120"/>
            <a:ext cx="3474720" cy="521208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371600"/>
            <a:ext cx="3017520" cy="1280160"/>
          </a:xfrm>
          <a:prstGeom prst="rect">
            <a:avLst/>
          </a:prstGeom>
          <a:noFill/>
        </p:spPr>
        <p:txBody>
          <a:bodyPr wrap="square">
            <a:spAutoFit/>
          </a:bodyPr>
          <a:lstStyle/>
          <a:p>
            <a:pPr algn="l"/>
            <a:r>
              <a:rPr sz="5600" b="0" i="0">
                <a:solidFill>
                  <a:srgbClr val="1A1A1A"/>
                </a:solidFill>
                <a:latin typeface="Inter"/>
              </a:rPr>
              <a:t>4.2×</a:t>
            </a:r>
          </a:p>
        </p:txBody>
      </p:sp>
      <p:sp>
        <p:nvSpPr>
          <p:cNvPr id="11" name="TextBox 10"/>
          <p:cNvSpPr txBox="1"/>
          <p:nvPr/>
        </p:nvSpPr>
        <p:spPr>
          <a:xfrm>
            <a:off x="8641080" y="2697480"/>
            <a:ext cx="2926080" cy="822960"/>
          </a:xfrm>
          <a:prstGeom prst="rect">
            <a:avLst/>
          </a:prstGeom>
          <a:noFill/>
        </p:spPr>
        <p:txBody>
          <a:bodyPr wrap="square">
            <a:spAutoFit/>
          </a:bodyPr>
          <a:lstStyle/>
          <a:p>
            <a:pPr algn="l"/>
            <a:r>
              <a:rPr sz="900" b="0" i="0">
                <a:solidFill>
                  <a:srgbClr val="5A5A5A"/>
                </a:solidFill>
                <a:latin typeface="Inter"/>
              </a:rPr>
              <a:t>Higher adoption rate
among top-quartile
digital maturity firms</a:t>
            </a:r>
          </a:p>
        </p:txBody>
      </p:sp>
      <p:cxnSp>
        <p:nvCxnSpPr>
          <p:cNvPr id="12" name="Connector 11"/>
          <p:cNvCxnSpPr/>
          <p:nvPr/>
        </p:nvCxnSpPr>
        <p:spPr>
          <a:xfrm>
            <a:off x="8641080" y="3657600"/>
            <a:ext cx="29260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41080" y="3767328"/>
            <a:ext cx="2926080" cy="365760"/>
          </a:xfrm>
          <a:prstGeom prst="rect">
            <a:avLst/>
          </a:prstGeom>
          <a:noFill/>
        </p:spPr>
        <p:txBody>
          <a:bodyPr wrap="square">
            <a:spAutoFit/>
          </a:bodyPr>
          <a:lstStyle/>
          <a:p>
            <a:pPr algn="l"/>
            <a:r>
              <a:rPr sz="1000" b="0" i="0">
                <a:solidFill>
                  <a:srgbClr val="1A1A1A"/>
                </a:solidFill>
                <a:latin typeface="Inter"/>
              </a:rPr>
              <a:t>r = 0.71</a:t>
            </a:r>
          </a:p>
        </p:txBody>
      </p:sp>
      <p:sp>
        <p:nvSpPr>
          <p:cNvPr id="14" name="TextBox 13"/>
          <p:cNvSpPr txBox="1"/>
          <p:nvPr/>
        </p:nvSpPr>
        <p:spPr>
          <a:xfrm>
            <a:off x="8641080" y="4114800"/>
            <a:ext cx="2926080" cy="274320"/>
          </a:xfrm>
          <a:prstGeom prst="rect">
            <a:avLst/>
          </a:prstGeom>
          <a:noFill/>
        </p:spPr>
        <p:txBody>
          <a:bodyPr wrap="square">
            <a:spAutoFit/>
          </a:bodyPr>
          <a:lstStyle/>
          <a:p>
            <a:pPr algn="l"/>
            <a:r>
              <a:rPr sz="750" b="0" i="0">
                <a:solidFill>
                  <a:srgbClr val="8A8A8A"/>
                </a:solidFill>
                <a:latin typeface="Inter"/>
              </a:rPr>
              <a:t>Pearson correlation</a:t>
            </a:r>
          </a:p>
        </p:txBody>
      </p:sp>
      <p:sp>
        <p:nvSpPr>
          <p:cNvPr id="15" name="TextBox 14"/>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16" name="TextBox 15"/>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06 / 17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FINDING 02 OF 06</a:t>
            </a:r>
          </a:p>
        </p:txBody>
      </p:sp>
      <p:cxnSp>
        <p:nvCxnSpPr>
          <p:cNvPr id="3" name="Connector 2"/>
          <p:cNvCxnSpPr/>
          <p:nvPr/>
        </p:nvCxnSpPr>
        <p:spPr>
          <a:xfrm>
            <a:off x="502920" y="822960"/>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960120"/>
            <a:ext cx="5029200" cy="2560320"/>
          </a:xfrm>
          <a:prstGeom prst="rect">
            <a:avLst/>
          </a:prstGeom>
          <a:noFill/>
        </p:spPr>
        <p:txBody>
          <a:bodyPr wrap="square">
            <a:spAutoFit/>
          </a:bodyPr>
          <a:lstStyle/>
          <a:p>
            <a:pPr algn="l"/>
            <a:r>
              <a:rPr sz="12000" b="0" i="0">
                <a:solidFill>
                  <a:srgbClr val="1A1A1A"/>
                </a:solidFill>
                <a:latin typeface="Inter"/>
              </a:rPr>
              <a:t>89%</a:t>
            </a:r>
          </a:p>
        </p:txBody>
      </p:sp>
      <p:sp>
        <p:nvSpPr>
          <p:cNvPr id="5" name="TextBox 4"/>
          <p:cNvSpPr txBox="1"/>
          <p:nvPr/>
        </p:nvSpPr>
        <p:spPr>
          <a:xfrm>
            <a:off x="502920" y="3520440"/>
            <a:ext cx="9144000" cy="274320"/>
          </a:xfrm>
          <a:prstGeom prst="rect">
            <a:avLst/>
          </a:prstGeom>
          <a:noFill/>
        </p:spPr>
        <p:txBody>
          <a:bodyPr wrap="square">
            <a:spAutoFit/>
          </a:bodyPr>
          <a:lstStyle/>
          <a:p>
            <a:pPr algn="l"/>
            <a:r>
              <a:rPr sz="700" b="1" i="0">
                <a:solidFill>
                  <a:srgbClr val="8A8A8A"/>
                </a:solidFill>
                <a:latin typeface="Inter"/>
              </a:rPr>
              <a:t>OF ALL AI-ADOPTING SMES HAD CLOUD INFRASTRUCTURE IN PLACE FIRST</a:t>
            </a:r>
          </a:p>
        </p:txBody>
      </p:sp>
      <p:cxnSp>
        <p:nvCxnSpPr>
          <p:cNvPr id="6" name="Connector 5"/>
          <p:cNvCxnSpPr/>
          <p:nvPr/>
        </p:nvCxnSpPr>
        <p:spPr>
          <a:xfrm>
            <a:off x="502920" y="3767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3886200"/>
            <a:ext cx="7315200" cy="594360"/>
          </a:xfrm>
          <a:prstGeom prst="rect">
            <a:avLst/>
          </a:prstGeom>
          <a:noFill/>
        </p:spPr>
        <p:txBody>
          <a:bodyPr wrap="square">
            <a:spAutoFit/>
          </a:bodyPr>
          <a:lstStyle/>
          <a:p>
            <a:pPr algn="l"/>
            <a:r>
              <a:rPr sz="2200" b="0" i="0">
                <a:solidFill>
                  <a:srgbClr val="1A1A1A"/>
                </a:solidFill>
                <a:latin typeface="Inter"/>
              </a:rPr>
              <a:t>Cloud infrastructure is the gateway to AI adoption</a:t>
            </a:r>
          </a:p>
        </p:txBody>
      </p:sp>
      <p:sp>
        <p:nvSpPr>
          <p:cNvPr id="8" name="TextBox 7"/>
          <p:cNvSpPr txBox="1"/>
          <p:nvPr/>
        </p:nvSpPr>
        <p:spPr>
          <a:xfrm>
            <a:off x="502920" y="4526280"/>
            <a:ext cx="6858000" cy="1508760"/>
          </a:xfrm>
          <a:prstGeom prst="rect">
            <a:avLst/>
          </a:prstGeom>
          <a:noFill/>
        </p:spPr>
        <p:txBody>
          <a:bodyPr wrap="square">
            <a:spAutoFit/>
          </a:bodyPr>
          <a:lstStyle/>
          <a:p>
            <a:pPr algn="l"/>
            <a:r>
              <a:rPr sz="1000" b="0" i="0">
                <a:solidFill>
                  <a:srgbClr val="5A5A5A"/>
                </a:solidFill>
                <a:latin typeface="Inter"/>
              </a:rPr>
              <a:t>Nearly all AI-adopting SMEs had cloud infrastructure in place before AI adoption. Cloud does not run in parallel with AI — it is the structural prerequisite.
Organizations without cloud foundations show adoption rates 6× lower than cloud-enabled peers, regardless of industry, revenue, or company size.</a:t>
            </a:r>
          </a:p>
        </p:txBody>
      </p:sp>
      <p:sp>
        <p:nvSpPr>
          <p:cNvPr id="9" name="Rectangle 8"/>
          <p:cNvSpPr/>
          <p:nvPr/>
        </p:nvSpPr>
        <p:spPr>
          <a:xfrm>
            <a:off x="8412480" y="960120"/>
            <a:ext cx="3474720" cy="521208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371600"/>
            <a:ext cx="3017520" cy="1280160"/>
          </a:xfrm>
          <a:prstGeom prst="rect">
            <a:avLst/>
          </a:prstGeom>
          <a:noFill/>
        </p:spPr>
        <p:txBody>
          <a:bodyPr wrap="square">
            <a:spAutoFit/>
          </a:bodyPr>
          <a:lstStyle/>
          <a:p>
            <a:pPr algn="l"/>
            <a:r>
              <a:rPr sz="5600" b="0" i="0">
                <a:solidFill>
                  <a:srgbClr val="1A1A1A"/>
                </a:solidFill>
                <a:latin typeface="Inter"/>
              </a:rPr>
              <a:t>6×</a:t>
            </a:r>
          </a:p>
        </p:txBody>
      </p:sp>
      <p:sp>
        <p:nvSpPr>
          <p:cNvPr id="11" name="TextBox 10"/>
          <p:cNvSpPr txBox="1"/>
          <p:nvPr/>
        </p:nvSpPr>
        <p:spPr>
          <a:xfrm>
            <a:off x="8641080" y="2697480"/>
            <a:ext cx="2926080" cy="777240"/>
          </a:xfrm>
          <a:prstGeom prst="rect">
            <a:avLst/>
          </a:prstGeom>
          <a:noFill/>
        </p:spPr>
        <p:txBody>
          <a:bodyPr wrap="square">
            <a:spAutoFit/>
          </a:bodyPr>
          <a:lstStyle/>
          <a:p>
            <a:pPr algn="l"/>
            <a:r>
              <a:rPr sz="900" b="0" i="0">
                <a:solidFill>
                  <a:srgbClr val="5A5A5A"/>
                </a:solidFill>
                <a:latin typeface="Inter"/>
              </a:rPr>
              <a:t>Lower AI adoption rate
for SMEs without
cloud infrastructure</a:t>
            </a:r>
          </a:p>
        </p:txBody>
      </p:sp>
      <p:cxnSp>
        <p:nvCxnSpPr>
          <p:cNvPr id="12" name="Connector 11"/>
          <p:cNvCxnSpPr/>
          <p:nvPr/>
        </p:nvCxnSpPr>
        <p:spPr>
          <a:xfrm>
            <a:off x="8641080" y="3611880"/>
            <a:ext cx="29260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41080" y="3749039"/>
            <a:ext cx="2926080" cy="502920"/>
          </a:xfrm>
          <a:prstGeom prst="rect">
            <a:avLst/>
          </a:prstGeom>
          <a:noFill/>
        </p:spPr>
        <p:txBody>
          <a:bodyPr wrap="square">
            <a:spAutoFit/>
          </a:bodyPr>
          <a:lstStyle/>
          <a:p>
            <a:pPr algn="l"/>
            <a:r>
              <a:rPr sz="950" b="0" i="0">
                <a:solidFill>
                  <a:srgbClr val="1A1A1A"/>
                </a:solidFill>
                <a:latin typeface="Inter"/>
              </a:rPr>
              <a:t>89% of AI adopters
had cloud first</a:t>
            </a:r>
          </a:p>
        </p:txBody>
      </p:sp>
      <p:sp>
        <p:nvSpPr>
          <p:cNvPr id="14" name="TextBox 13"/>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15" name="TextBox 14"/>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FINDING 03 OF 06</a:t>
            </a:r>
          </a:p>
        </p:txBody>
      </p:sp>
      <p:cxnSp>
        <p:nvCxnSpPr>
          <p:cNvPr id="3" name="Connector 2"/>
          <p:cNvCxnSpPr/>
          <p:nvPr/>
        </p:nvCxnSpPr>
        <p:spPr>
          <a:xfrm>
            <a:off x="502920" y="822960"/>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960120"/>
            <a:ext cx="5029200" cy="2560320"/>
          </a:xfrm>
          <a:prstGeom prst="rect">
            <a:avLst/>
          </a:prstGeom>
          <a:noFill/>
        </p:spPr>
        <p:txBody>
          <a:bodyPr wrap="square">
            <a:spAutoFit/>
          </a:bodyPr>
          <a:lstStyle/>
          <a:p>
            <a:pPr algn="l"/>
            <a:r>
              <a:rPr sz="12000" b="0" i="0">
                <a:solidFill>
                  <a:srgbClr val="1A1A1A"/>
                </a:solidFill>
                <a:latin typeface="Inter"/>
              </a:rPr>
              <a:t>2.8×</a:t>
            </a:r>
          </a:p>
        </p:txBody>
      </p:sp>
      <p:sp>
        <p:nvSpPr>
          <p:cNvPr id="5" name="TextBox 4"/>
          <p:cNvSpPr txBox="1"/>
          <p:nvPr/>
        </p:nvSpPr>
        <p:spPr>
          <a:xfrm>
            <a:off x="502920" y="3520440"/>
            <a:ext cx="9144000" cy="274320"/>
          </a:xfrm>
          <a:prstGeom prst="rect">
            <a:avLst/>
          </a:prstGeom>
          <a:noFill/>
        </p:spPr>
        <p:txBody>
          <a:bodyPr wrap="square">
            <a:spAutoFit/>
          </a:bodyPr>
          <a:lstStyle/>
          <a:p>
            <a:pPr algn="l"/>
            <a:r>
              <a:rPr sz="700" b="1" i="0">
                <a:solidFill>
                  <a:srgbClr val="8A8A8A"/>
                </a:solidFill>
                <a:latin typeface="Inter"/>
              </a:rPr>
              <a:t>ADOPTION LIKELIHOOD MULTIPLIER — CEO WITH TECHNOLOGY BACKGROUND</a:t>
            </a:r>
          </a:p>
        </p:txBody>
      </p:sp>
      <p:cxnSp>
        <p:nvCxnSpPr>
          <p:cNvPr id="6" name="Connector 5"/>
          <p:cNvCxnSpPr/>
          <p:nvPr/>
        </p:nvCxnSpPr>
        <p:spPr>
          <a:xfrm>
            <a:off x="502920" y="3767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3886200"/>
            <a:ext cx="7315200" cy="594360"/>
          </a:xfrm>
          <a:prstGeom prst="rect">
            <a:avLst/>
          </a:prstGeom>
          <a:noFill/>
        </p:spPr>
        <p:txBody>
          <a:bodyPr wrap="square">
            <a:spAutoFit/>
          </a:bodyPr>
          <a:lstStyle/>
          <a:p>
            <a:pPr algn="l"/>
            <a:r>
              <a:rPr sz="2200" b="0" i="0">
                <a:solidFill>
                  <a:srgbClr val="1A1A1A"/>
                </a:solidFill>
                <a:latin typeface="Inter"/>
              </a:rPr>
              <a:t>Mindset outweighs company size</a:t>
            </a:r>
          </a:p>
        </p:txBody>
      </p:sp>
      <p:sp>
        <p:nvSpPr>
          <p:cNvPr id="8" name="TextBox 7"/>
          <p:cNvSpPr txBox="1"/>
          <p:nvPr/>
        </p:nvSpPr>
        <p:spPr>
          <a:xfrm>
            <a:off x="502920" y="4526280"/>
            <a:ext cx="6858000" cy="1508760"/>
          </a:xfrm>
          <a:prstGeom prst="rect">
            <a:avLst/>
          </a:prstGeom>
          <a:noFill/>
        </p:spPr>
        <p:txBody>
          <a:bodyPr wrap="square">
            <a:spAutoFit/>
          </a:bodyPr>
          <a:lstStyle/>
          <a:p>
            <a:pPr algn="l"/>
            <a:r>
              <a:rPr sz="1000" b="0" i="0">
                <a:solidFill>
                  <a:srgbClr val="5A5A5A"/>
                </a:solidFill>
                <a:latin typeface="Inter"/>
              </a:rPr>
              <a:t>SMEs with a CEO who has a technology background adopt AI at 2.8× the rate of equivalent companies with non-technical leadership. Headcount and revenue are secondary variables.
The dominant factor is organizational culture set from the top. Strategic positioning for AI begins with leadership conviction, not budget allocation.</a:t>
            </a:r>
          </a:p>
        </p:txBody>
      </p:sp>
      <p:sp>
        <p:nvSpPr>
          <p:cNvPr id="9" name="Rectangle 8"/>
          <p:cNvSpPr/>
          <p:nvPr/>
        </p:nvSpPr>
        <p:spPr>
          <a:xfrm>
            <a:off x="8412480" y="960120"/>
            <a:ext cx="3474720" cy="521208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1371600"/>
            <a:ext cx="3017520" cy="1280160"/>
          </a:xfrm>
          <a:prstGeom prst="rect">
            <a:avLst/>
          </a:prstGeom>
          <a:noFill/>
        </p:spPr>
        <p:txBody>
          <a:bodyPr wrap="square">
            <a:spAutoFit/>
          </a:bodyPr>
          <a:lstStyle/>
          <a:p>
            <a:pPr algn="l"/>
            <a:r>
              <a:rPr sz="5600" b="0" i="0">
                <a:solidFill>
                  <a:srgbClr val="1A1A1A"/>
                </a:solidFill>
                <a:latin typeface="Inter"/>
              </a:rPr>
              <a:t>2.8×</a:t>
            </a:r>
          </a:p>
        </p:txBody>
      </p:sp>
      <p:sp>
        <p:nvSpPr>
          <p:cNvPr id="11" name="TextBox 10"/>
          <p:cNvSpPr txBox="1"/>
          <p:nvPr/>
        </p:nvSpPr>
        <p:spPr>
          <a:xfrm>
            <a:off x="8641080" y="2697480"/>
            <a:ext cx="2926080" cy="777240"/>
          </a:xfrm>
          <a:prstGeom prst="rect">
            <a:avLst/>
          </a:prstGeom>
          <a:noFill/>
        </p:spPr>
        <p:txBody>
          <a:bodyPr wrap="square">
            <a:spAutoFit/>
          </a:bodyPr>
          <a:lstStyle/>
          <a:p>
            <a:pPr algn="l"/>
            <a:r>
              <a:rPr sz="900" b="0" i="0">
                <a:solidFill>
                  <a:srgbClr val="5A5A5A"/>
                </a:solidFill>
                <a:latin typeface="Inter"/>
              </a:rPr>
              <a:t>Higher AI adoption
when CEO has a
technology background</a:t>
            </a:r>
          </a:p>
        </p:txBody>
      </p:sp>
      <p:cxnSp>
        <p:nvCxnSpPr>
          <p:cNvPr id="12" name="Connector 11"/>
          <p:cNvCxnSpPr/>
          <p:nvPr/>
        </p:nvCxnSpPr>
        <p:spPr>
          <a:xfrm>
            <a:off x="8641080" y="3611880"/>
            <a:ext cx="29260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41080" y="3749039"/>
            <a:ext cx="2926080" cy="502920"/>
          </a:xfrm>
          <a:prstGeom prst="rect">
            <a:avLst/>
          </a:prstGeom>
          <a:noFill/>
        </p:spPr>
        <p:txBody>
          <a:bodyPr wrap="square">
            <a:spAutoFit/>
          </a:bodyPr>
          <a:lstStyle/>
          <a:p>
            <a:pPr algn="l"/>
            <a:r>
              <a:rPr sz="950" b="0" i="0">
                <a:solidFill>
                  <a:srgbClr val="1A1A1A"/>
                </a:solidFill>
                <a:latin typeface="Inter"/>
              </a:rPr>
              <a:t>Strongest non-technical
predictor in the dataset</a:t>
            </a:r>
          </a:p>
        </p:txBody>
      </p:sp>
      <p:sp>
        <p:nvSpPr>
          <p:cNvPr id="14" name="TextBox 13"/>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15" name="TextBox 14"/>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08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FINDING 04 OF 06</a:t>
            </a:r>
          </a:p>
        </p:txBody>
      </p:sp>
      <p:cxnSp>
        <p:nvCxnSpPr>
          <p:cNvPr id="3" name="Connector 2"/>
          <p:cNvCxnSpPr/>
          <p:nvPr/>
        </p:nvCxnSpPr>
        <p:spPr>
          <a:xfrm>
            <a:off x="502920" y="822960"/>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02920" y="960120"/>
            <a:ext cx="6400800" cy="2560320"/>
          </a:xfrm>
          <a:prstGeom prst="rect">
            <a:avLst/>
          </a:prstGeom>
          <a:noFill/>
        </p:spPr>
        <p:txBody>
          <a:bodyPr wrap="square">
            <a:spAutoFit/>
          </a:bodyPr>
          <a:lstStyle/>
          <a:p>
            <a:pPr algn="l"/>
            <a:r>
              <a:rPr sz="10000" b="0" i="0">
                <a:solidFill>
                  <a:srgbClr val="1A1A1A"/>
                </a:solidFill>
                <a:latin typeface="Inter"/>
              </a:rPr>
              <a:t>+41pp</a:t>
            </a:r>
          </a:p>
        </p:txBody>
      </p:sp>
      <p:sp>
        <p:nvSpPr>
          <p:cNvPr id="5" name="TextBox 4"/>
          <p:cNvSpPr txBox="1"/>
          <p:nvPr/>
        </p:nvSpPr>
        <p:spPr>
          <a:xfrm>
            <a:off x="502920" y="3520440"/>
            <a:ext cx="9144000" cy="274320"/>
          </a:xfrm>
          <a:prstGeom prst="rect">
            <a:avLst/>
          </a:prstGeom>
          <a:noFill/>
        </p:spPr>
        <p:txBody>
          <a:bodyPr wrap="square">
            <a:spAutoFit/>
          </a:bodyPr>
          <a:lstStyle/>
          <a:p>
            <a:pPr algn="l"/>
            <a:r>
              <a:rPr sz="700" b="1" i="0">
                <a:solidFill>
                  <a:srgbClr val="8A8A8A"/>
                </a:solidFill>
                <a:latin typeface="Inter"/>
              </a:rPr>
              <a:t>ADOPTION GROWTH IN JUST TWO YEARS — 2022 TO 2024</a:t>
            </a:r>
          </a:p>
        </p:txBody>
      </p:sp>
      <p:cxnSp>
        <p:nvCxnSpPr>
          <p:cNvPr id="6" name="Connector 5"/>
          <p:cNvCxnSpPr/>
          <p:nvPr/>
        </p:nvCxnSpPr>
        <p:spPr>
          <a:xfrm>
            <a:off x="502920" y="3767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02920" y="3886200"/>
            <a:ext cx="7315200" cy="594360"/>
          </a:xfrm>
          <a:prstGeom prst="rect">
            <a:avLst/>
          </a:prstGeom>
          <a:noFill/>
        </p:spPr>
        <p:txBody>
          <a:bodyPr wrap="square">
            <a:spAutoFit/>
          </a:bodyPr>
          <a:lstStyle/>
          <a:p>
            <a:pPr algn="l"/>
            <a:r>
              <a:rPr sz="2200" b="0" i="0">
                <a:solidFill>
                  <a:srgbClr val="1A1A1A"/>
                </a:solidFill>
                <a:latin typeface="Inter"/>
              </a:rPr>
              <a:t>The generative AI inflection point</a:t>
            </a:r>
          </a:p>
        </p:txBody>
      </p:sp>
      <p:sp>
        <p:nvSpPr>
          <p:cNvPr id="8" name="TextBox 7"/>
          <p:cNvSpPr txBox="1"/>
          <p:nvPr/>
        </p:nvSpPr>
        <p:spPr>
          <a:xfrm>
            <a:off x="502920" y="4526280"/>
            <a:ext cx="10972800" cy="1554480"/>
          </a:xfrm>
          <a:prstGeom prst="rect">
            <a:avLst/>
          </a:prstGeom>
          <a:noFill/>
        </p:spPr>
        <p:txBody>
          <a:bodyPr wrap="square">
            <a:spAutoFit/>
          </a:bodyPr>
          <a:lstStyle/>
          <a:p>
            <a:pPr algn="l"/>
            <a:r>
              <a:rPr sz="1000" b="0" i="0">
                <a:solidFill>
                  <a:srgbClr val="5A5A5A"/>
                </a:solidFill>
                <a:latin typeface="Inter"/>
              </a:rPr>
              <a:t>Adoption grew 7 percentage points per year from 2019 to 2022. Following the public availability of large language models in late 2022, that pace doubled. The 2022–2024 period accounts for more absolute adoption growth than the preceding three years combined.
This pattern repeats across all 10 industries — though Technology and Finance reached near-saturation by 2024, while Construction and Agriculture remain structurally a decade behind.</a:t>
            </a:r>
          </a:p>
        </p:txBody>
      </p:sp>
      <p:sp>
        <p:nvSpPr>
          <p:cNvPr id="9" name="TextBox 8"/>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10" name="TextBox 9"/>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09 / 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FINDINGS 05 &amp; 06 OF 06</a:t>
            </a:r>
          </a:p>
        </p:txBody>
      </p:sp>
      <p:cxnSp>
        <p:nvCxnSpPr>
          <p:cNvPr id="3" name="Connector 2"/>
          <p:cNvCxnSpPr/>
          <p:nvPr/>
        </p:nvCxnSpPr>
        <p:spPr>
          <a:xfrm>
            <a:off x="502920" y="822960"/>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502920" y="960120"/>
            <a:ext cx="5349240" cy="534924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8" y="1115568"/>
            <a:ext cx="9144000" cy="274320"/>
          </a:xfrm>
          <a:prstGeom prst="rect">
            <a:avLst/>
          </a:prstGeom>
          <a:noFill/>
        </p:spPr>
        <p:txBody>
          <a:bodyPr wrap="square">
            <a:spAutoFit/>
          </a:bodyPr>
          <a:lstStyle/>
          <a:p>
            <a:pPr algn="l"/>
            <a:r>
              <a:rPr sz="700" b="1" i="0">
                <a:solidFill>
                  <a:srgbClr val="8A8A8A"/>
                </a:solidFill>
                <a:latin typeface="Inter"/>
              </a:rPr>
              <a:t>SECTOR DIVERGENCE</a:t>
            </a:r>
          </a:p>
        </p:txBody>
      </p:sp>
      <p:sp>
        <p:nvSpPr>
          <p:cNvPr id="6" name="TextBox 5"/>
          <p:cNvSpPr txBox="1"/>
          <p:nvPr/>
        </p:nvSpPr>
        <p:spPr>
          <a:xfrm>
            <a:off x="749808" y="1417320"/>
            <a:ext cx="3657600" cy="1371600"/>
          </a:xfrm>
          <a:prstGeom prst="rect">
            <a:avLst/>
          </a:prstGeom>
          <a:noFill/>
        </p:spPr>
        <p:txBody>
          <a:bodyPr wrap="square">
            <a:spAutoFit/>
          </a:bodyPr>
          <a:lstStyle/>
          <a:p>
            <a:pPr algn="l"/>
            <a:r>
              <a:rPr sz="6400" b="0" i="0">
                <a:solidFill>
                  <a:srgbClr val="1A1A1A"/>
                </a:solidFill>
                <a:latin typeface="Inter"/>
              </a:rPr>
              <a:t>97%</a:t>
            </a:r>
          </a:p>
        </p:txBody>
      </p:sp>
      <p:sp>
        <p:nvSpPr>
          <p:cNvPr id="7" name="TextBox 6"/>
          <p:cNvSpPr txBox="1"/>
          <p:nvPr/>
        </p:nvSpPr>
        <p:spPr>
          <a:xfrm>
            <a:off x="749808" y="2743200"/>
            <a:ext cx="4114800" cy="320040"/>
          </a:xfrm>
          <a:prstGeom prst="rect">
            <a:avLst/>
          </a:prstGeom>
          <a:noFill/>
        </p:spPr>
        <p:txBody>
          <a:bodyPr wrap="square">
            <a:spAutoFit/>
          </a:bodyPr>
          <a:lstStyle/>
          <a:p>
            <a:pPr algn="l"/>
            <a:r>
              <a:rPr sz="850" b="0" i="0">
                <a:solidFill>
                  <a:srgbClr val="8A8A8A"/>
                </a:solidFill>
                <a:latin typeface="Inter"/>
              </a:rPr>
              <a:t>Technology sector adoption in 2024</a:t>
            </a:r>
          </a:p>
        </p:txBody>
      </p:sp>
      <p:cxnSp>
        <p:nvCxnSpPr>
          <p:cNvPr id="8" name="Connector 7"/>
          <p:cNvCxnSpPr/>
          <p:nvPr/>
        </p:nvCxnSpPr>
        <p:spPr>
          <a:xfrm>
            <a:off x="749808" y="3127248"/>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49808" y="3246120"/>
            <a:ext cx="2194560" cy="329184"/>
          </a:xfrm>
          <a:prstGeom prst="rect">
            <a:avLst/>
          </a:prstGeom>
          <a:noFill/>
        </p:spPr>
        <p:txBody>
          <a:bodyPr wrap="square">
            <a:spAutoFit/>
          </a:bodyPr>
          <a:lstStyle/>
          <a:p>
            <a:pPr algn="l"/>
            <a:r>
              <a:rPr sz="850" b="0" i="0">
                <a:solidFill>
                  <a:srgbClr val="1A1A1A"/>
                </a:solidFill>
                <a:latin typeface="Inter"/>
              </a:rPr>
              <a:t>Technology</a:t>
            </a:r>
          </a:p>
        </p:txBody>
      </p:sp>
      <p:sp>
        <p:nvSpPr>
          <p:cNvPr id="10" name="TextBox 9"/>
          <p:cNvSpPr txBox="1"/>
          <p:nvPr/>
        </p:nvSpPr>
        <p:spPr>
          <a:xfrm>
            <a:off x="4617720" y="3246120"/>
            <a:ext cx="1097280" cy="329184"/>
          </a:xfrm>
          <a:prstGeom prst="rect">
            <a:avLst/>
          </a:prstGeom>
          <a:noFill/>
        </p:spPr>
        <p:txBody>
          <a:bodyPr wrap="square">
            <a:spAutoFit/>
          </a:bodyPr>
          <a:lstStyle/>
          <a:p>
            <a:pPr algn="r"/>
            <a:r>
              <a:rPr sz="850" b="0" i="0">
                <a:solidFill>
                  <a:srgbClr val="5A5A5A"/>
                </a:solidFill>
                <a:latin typeface="Inter"/>
              </a:rPr>
              <a:t>97%</a:t>
            </a:r>
          </a:p>
        </p:txBody>
      </p:sp>
      <p:sp>
        <p:nvSpPr>
          <p:cNvPr id="11" name="TextBox 10"/>
          <p:cNvSpPr txBox="1"/>
          <p:nvPr/>
        </p:nvSpPr>
        <p:spPr>
          <a:xfrm>
            <a:off x="749808" y="3648456"/>
            <a:ext cx="2194560" cy="329184"/>
          </a:xfrm>
          <a:prstGeom prst="rect">
            <a:avLst/>
          </a:prstGeom>
          <a:noFill/>
        </p:spPr>
        <p:txBody>
          <a:bodyPr wrap="square">
            <a:spAutoFit/>
          </a:bodyPr>
          <a:lstStyle/>
          <a:p>
            <a:pPr algn="l"/>
            <a:r>
              <a:rPr sz="850" b="0" i="0">
                <a:solidFill>
                  <a:srgbClr val="1A1A1A"/>
                </a:solidFill>
                <a:latin typeface="Inter"/>
              </a:rPr>
              <a:t>Finance</a:t>
            </a:r>
          </a:p>
        </p:txBody>
      </p:sp>
      <p:sp>
        <p:nvSpPr>
          <p:cNvPr id="12" name="TextBox 11"/>
          <p:cNvSpPr txBox="1"/>
          <p:nvPr/>
        </p:nvSpPr>
        <p:spPr>
          <a:xfrm>
            <a:off x="4617720" y="3648456"/>
            <a:ext cx="1097280" cy="329184"/>
          </a:xfrm>
          <a:prstGeom prst="rect">
            <a:avLst/>
          </a:prstGeom>
          <a:noFill/>
        </p:spPr>
        <p:txBody>
          <a:bodyPr wrap="square">
            <a:spAutoFit/>
          </a:bodyPr>
          <a:lstStyle/>
          <a:p>
            <a:pPr algn="r"/>
            <a:r>
              <a:rPr sz="850" b="0" i="0">
                <a:solidFill>
                  <a:srgbClr val="5A5A5A"/>
                </a:solidFill>
                <a:latin typeface="Inter"/>
              </a:rPr>
              <a:t>82%</a:t>
            </a:r>
          </a:p>
        </p:txBody>
      </p:sp>
      <p:sp>
        <p:nvSpPr>
          <p:cNvPr id="13" name="TextBox 12"/>
          <p:cNvSpPr txBox="1"/>
          <p:nvPr/>
        </p:nvSpPr>
        <p:spPr>
          <a:xfrm>
            <a:off x="749808" y="4050792"/>
            <a:ext cx="2194560" cy="329184"/>
          </a:xfrm>
          <a:prstGeom prst="rect">
            <a:avLst/>
          </a:prstGeom>
          <a:noFill/>
        </p:spPr>
        <p:txBody>
          <a:bodyPr wrap="square">
            <a:spAutoFit/>
          </a:bodyPr>
          <a:lstStyle/>
          <a:p>
            <a:pPr algn="l"/>
            <a:r>
              <a:rPr sz="850" b="0" i="0">
                <a:solidFill>
                  <a:srgbClr val="1A1A1A"/>
                </a:solidFill>
                <a:latin typeface="Inter"/>
              </a:rPr>
              <a:t>Healthcare</a:t>
            </a:r>
          </a:p>
        </p:txBody>
      </p:sp>
      <p:sp>
        <p:nvSpPr>
          <p:cNvPr id="14" name="TextBox 13"/>
          <p:cNvSpPr txBox="1"/>
          <p:nvPr/>
        </p:nvSpPr>
        <p:spPr>
          <a:xfrm>
            <a:off x="4617720" y="4050792"/>
            <a:ext cx="1097280" cy="329184"/>
          </a:xfrm>
          <a:prstGeom prst="rect">
            <a:avLst/>
          </a:prstGeom>
          <a:noFill/>
        </p:spPr>
        <p:txBody>
          <a:bodyPr wrap="square">
            <a:spAutoFit/>
          </a:bodyPr>
          <a:lstStyle/>
          <a:p>
            <a:pPr algn="r"/>
            <a:r>
              <a:rPr sz="850" b="0" i="0">
                <a:solidFill>
                  <a:srgbClr val="5A5A5A"/>
                </a:solidFill>
                <a:latin typeface="Inter"/>
              </a:rPr>
              <a:t>68%</a:t>
            </a:r>
          </a:p>
        </p:txBody>
      </p:sp>
      <p:sp>
        <p:nvSpPr>
          <p:cNvPr id="15" name="TextBox 14"/>
          <p:cNvSpPr txBox="1"/>
          <p:nvPr/>
        </p:nvSpPr>
        <p:spPr>
          <a:xfrm>
            <a:off x="749808" y="4453128"/>
            <a:ext cx="2194560" cy="329184"/>
          </a:xfrm>
          <a:prstGeom prst="rect">
            <a:avLst/>
          </a:prstGeom>
          <a:noFill/>
        </p:spPr>
        <p:txBody>
          <a:bodyPr wrap="square">
            <a:spAutoFit/>
          </a:bodyPr>
          <a:lstStyle/>
          <a:p>
            <a:pPr algn="l"/>
            <a:r>
              <a:rPr sz="850" b="0" i="0">
                <a:solidFill>
                  <a:srgbClr val="1A1A1A"/>
                </a:solidFill>
                <a:latin typeface="Inter"/>
              </a:rPr>
              <a:t>Retail</a:t>
            </a:r>
          </a:p>
        </p:txBody>
      </p:sp>
      <p:sp>
        <p:nvSpPr>
          <p:cNvPr id="16" name="TextBox 15"/>
          <p:cNvSpPr txBox="1"/>
          <p:nvPr/>
        </p:nvSpPr>
        <p:spPr>
          <a:xfrm>
            <a:off x="4617720" y="4453128"/>
            <a:ext cx="1097280" cy="329184"/>
          </a:xfrm>
          <a:prstGeom prst="rect">
            <a:avLst/>
          </a:prstGeom>
          <a:noFill/>
        </p:spPr>
        <p:txBody>
          <a:bodyPr wrap="square">
            <a:spAutoFit/>
          </a:bodyPr>
          <a:lstStyle/>
          <a:p>
            <a:pPr algn="r"/>
            <a:r>
              <a:rPr sz="850" b="0" i="0">
                <a:solidFill>
                  <a:srgbClr val="5A5A5A"/>
                </a:solidFill>
                <a:latin typeface="Inter"/>
              </a:rPr>
              <a:t>52%</a:t>
            </a:r>
          </a:p>
        </p:txBody>
      </p:sp>
      <p:sp>
        <p:nvSpPr>
          <p:cNvPr id="17" name="TextBox 16"/>
          <p:cNvSpPr txBox="1"/>
          <p:nvPr/>
        </p:nvSpPr>
        <p:spPr>
          <a:xfrm>
            <a:off x="749808" y="4855464"/>
            <a:ext cx="2194560" cy="329184"/>
          </a:xfrm>
          <a:prstGeom prst="rect">
            <a:avLst/>
          </a:prstGeom>
          <a:noFill/>
        </p:spPr>
        <p:txBody>
          <a:bodyPr wrap="square">
            <a:spAutoFit/>
          </a:bodyPr>
          <a:lstStyle/>
          <a:p>
            <a:pPr algn="l"/>
            <a:r>
              <a:rPr sz="850" b="0" i="0">
                <a:solidFill>
                  <a:srgbClr val="1A1A1A"/>
                </a:solidFill>
                <a:latin typeface="Inter"/>
              </a:rPr>
              <a:t>Construction</a:t>
            </a:r>
          </a:p>
        </p:txBody>
      </p:sp>
      <p:sp>
        <p:nvSpPr>
          <p:cNvPr id="18" name="TextBox 17"/>
          <p:cNvSpPr txBox="1"/>
          <p:nvPr/>
        </p:nvSpPr>
        <p:spPr>
          <a:xfrm>
            <a:off x="4617720" y="4855464"/>
            <a:ext cx="1097280" cy="329184"/>
          </a:xfrm>
          <a:prstGeom prst="rect">
            <a:avLst/>
          </a:prstGeom>
          <a:noFill/>
        </p:spPr>
        <p:txBody>
          <a:bodyPr wrap="square">
            <a:spAutoFit/>
          </a:bodyPr>
          <a:lstStyle/>
          <a:p>
            <a:pPr algn="r"/>
            <a:r>
              <a:rPr sz="850" b="0" i="0">
                <a:solidFill>
                  <a:srgbClr val="5A5A5A"/>
                </a:solidFill>
                <a:latin typeface="Inter"/>
              </a:rPr>
              <a:t>18%</a:t>
            </a:r>
          </a:p>
        </p:txBody>
      </p:sp>
      <p:sp>
        <p:nvSpPr>
          <p:cNvPr id="19" name="TextBox 18"/>
          <p:cNvSpPr txBox="1"/>
          <p:nvPr/>
        </p:nvSpPr>
        <p:spPr>
          <a:xfrm>
            <a:off x="749808" y="5257800"/>
            <a:ext cx="2194560" cy="329184"/>
          </a:xfrm>
          <a:prstGeom prst="rect">
            <a:avLst/>
          </a:prstGeom>
          <a:noFill/>
        </p:spPr>
        <p:txBody>
          <a:bodyPr wrap="square">
            <a:spAutoFit/>
          </a:bodyPr>
          <a:lstStyle/>
          <a:p>
            <a:pPr algn="l"/>
            <a:r>
              <a:rPr sz="850" b="0" i="0">
                <a:solidFill>
                  <a:srgbClr val="1A1A1A"/>
                </a:solidFill>
                <a:latin typeface="Inter"/>
              </a:rPr>
              <a:t>Agriculture</a:t>
            </a:r>
          </a:p>
        </p:txBody>
      </p:sp>
      <p:sp>
        <p:nvSpPr>
          <p:cNvPr id="20" name="TextBox 19"/>
          <p:cNvSpPr txBox="1"/>
          <p:nvPr/>
        </p:nvSpPr>
        <p:spPr>
          <a:xfrm>
            <a:off x="4617720" y="5257800"/>
            <a:ext cx="1097280" cy="329184"/>
          </a:xfrm>
          <a:prstGeom prst="rect">
            <a:avLst/>
          </a:prstGeom>
          <a:noFill/>
        </p:spPr>
        <p:txBody>
          <a:bodyPr wrap="square">
            <a:spAutoFit/>
          </a:bodyPr>
          <a:lstStyle/>
          <a:p>
            <a:pPr algn="r"/>
            <a:r>
              <a:rPr sz="850" b="0" i="0">
                <a:solidFill>
                  <a:srgbClr val="5A5A5A"/>
                </a:solidFill>
                <a:latin typeface="Inter"/>
              </a:rPr>
              <a:t>14%</a:t>
            </a:r>
          </a:p>
        </p:txBody>
      </p:sp>
      <p:sp>
        <p:nvSpPr>
          <p:cNvPr id="21" name="Rectangle 20"/>
          <p:cNvSpPr/>
          <p:nvPr/>
        </p:nvSpPr>
        <p:spPr>
          <a:xfrm>
            <a:off x="6309360" y="960120"/>
            <a:ext cx="5349240" cy="534924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6248" y="1115568"/>
            <a:ext cx="9144000" cy="274320"/>
          </a:xfrm>
          <a:prstGeom prst="rect">
            <a:avLst/>
          </a:prstGeom>
          <a:noFill/>
        </p:spPr>
        <p:txBody>
          <a:bodyPr wrap="square">
            <a:spAutoFit/>
          </a:bodyPr>
          <a:lstStyle/>
          <a:p>
            <a:pPr algn="l"/>
            <a:r>
              <a:rPr sz="700" b="1" i="0">
                <a:solidFill>
                  <a:srgbClr val="8A8A8A"/>
                </a:solidFill>
                <a:latin typeface="Inter"/>
              </a:rPr>
              <a:t>ECONOMIC CASE</a:t>
            </a:r>
          </a:p>
        </p:txBody>
      </p:sp>
      <p:sp>
        <p:nvSpPr>
          <p:cNvPr id="23" name="TextBox 22"/>
          <p:cNvSpPr txBox="1"/>
          <p:nvPr/>
        </p:nvSpPr>
        <p:spPr>
          <a:xfrm>
            <a:off x="6556248" y="1417320"/>
            <a:ext cx="3657600" cy="1371600"/>
          </a:xfrm>
          <a:prstGeom prst="rect">
            <a:avLst/>
          </a:prstGeom>
          <a:noFill/>
        </p:spPr>
        <p:txBody>
          <a:bodyPr wrap="square">
            <a:spAutoFit/>
          </a:bodyPr>
          <a:lstStyle/>
          <a:p>
            <a:pPr algn="l"/>
            <a:r>
              <a:rPr sz="6400" b="0" i="0">
                <a:solidFill>
                  <a:srgbClr val="1A1A1A"/>
                </a:solidFill>
                <a:latin typeface="Inter"/>
              </a:rPr>
              <a:t>+23%</a:t>
            </a:r>
          </a:p>
        </p:txBody>
      </p:sp>
      <p:sp>
        <p:nvSpPr>
          <p:cNvPr id="24" name="TextBox 23"/>
          <p:cNvSpPr txBox="1"/>
          <p:nvPr/>
        </p:nvSpPr>
        <p:spPr>
          <a:xfrm>
            <a:off x="6556248" y="2743200"/>
            <a:ext cx="4389120" cy="320040"/>
          </a:xfrm>
          <a:prstGeom prst="rect">
            <a:avLst/>
          </a:prstGeom>
          <a:noFill/>
        </p:spPr>
        <p:txBody>
          <a:bodyPr wrap="square">
            <a:spAutoFit/>
          </a:bodyPr>
          <a:lstStyle/>
          <a:p>
            <a:pPr algn="l"/>
            <a:r>
              <a:rPr sz="850" b="0" i="0">
                <a:solidFill>
                  <a:srgbClr val="8A8A8A"/>
                </a:solidFill>
                <a:latin typeface="Inter"/>
              </a:rPr>
              <a:t>Average revenue uplift for AI-adopting SMEs</a:t>
            </a:r>
          </a:p>
        </p:txBody>
      </p:sp>
      <p:cxnSp>
        <p:nvCxnSpPr>
          <p:cNvPr id="25" name="Connector 24"/>
          <p:cNvCxnSpPr/>
          <p:nvPr/>
        </p:nvCxnSpPr>
        <p:spPr>
          <a:xfrm>
            <a:off x="6556248" y="3127248"/>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556248" y="3218688"/>
            <a:ext cx="4754880" cy="274320"/>
          </a:xfrm>
          <a:prstGeom prst="rect">
            <a:avLst/>
          </a:prstGeom>
          <a:noFill/>
        </p:spPr>
        <p:txBody>
          <a:bodyPr wrap="square">
            <a:spAutoFit/>
          </a:bodyPr>
          <a:lstStyle/>
          <a:p>
            <a:pPr algn="l"/>
            <a:r>
              <a:rPr sz="750" b="0" i="0">
                <a:solidFill>
                  <a:srgbClr val="8A8A8A"/>
                </a:solidFill>
                <a:latin typeface="Inter"/>
              </a:rPr>
              <a:t>ROI payback period by industry:</a:t>
            </a:r>
          </a:p>
        </p:txBody>
      </p:sp>
      <p:sp>
        <p:nvSpPr>
          <p:cNvPr id="27" name="TextBox 26"/>
          <p:cNvSpPr txBox="1"/>
          <p:nvPr/>
        </p:nvSpPr>
        <p:spPr>
          <a:xfrm>
            <a:off x="6556248" y="3566160"/>
            <a:ext cx="2560320" cy="320040"/>
          </a:xfrm>
          <a:prstGeom prst="rect">
            <a:avLst/>
          </a:prstGeom>
          <a:noFill/>
        </p:spPr>
        <p:txBody>
          <a:bodyPr wrap="square">
            <a:spAutoFit/>
          </a:bodyPr>
          <a:lstStyle/>
          <a:p>
            <a:pPr algn="l"/>
            <a:r>
              <a:rPr sz="850" b="0" i="0">
                <a:solidFill>
                  <a:srgbClr val="1A1A1A"/>
                </a:solidFill>
                <a:latin typeface="Inter"/>
              </a:rPr>
              <a:t>Technology</a:t>
            </a:r>
          </a:p>
        </p:txBody>
      </p:sp>
      <p:sp>
        <p:nvSpPr>
          <p:cNvPr id="28" name="TextBox 27"/>
          <p:cNvSpPr txBox="1"/>
          <p:nvPr/>
        </p:nvSpPr>
        <p:spPr>
          <a:xfrm>
            <a:off x="9509760" y="3566160"/>
            <a:ext cx="2011680" cy="320040"/>
          </a:xfrm>
          <a:prstGeom prst="rect">
            <a:avLst/>
          </a:prstGeom>
          <a:noFill/>
        </p:spPr>
        <p:txBody>
          <a:bodyPr wrap="square">
            <a:spAutoFit/>
          </a:bodyPr>
          <a:lstStyle/>
          <a:p>
            <a:pPr algn="r"/>
            <a:r>
              <a:rPr sz="850" b="0" i="0">
                <a:solidFill>
                  <a:srgbClr val="5A5A5A"/>
                </a:solidFill>
                <a:latin typeface="Inter"/>
              </a:rPr>
              <a:t>4 months</a:t>
            </a:r>
          </a:p>
        </p:txBody>
      </p:sp>
      <p:sp>
        <p:nvSpPr>
          <p:cNvPr id="29" name="TextBox 28"/>
          <p:cNvSpPr txBox="1"/>
          <p:nvPr/>
        </p:nvSpPr>
        <p:spPr>
          <a:xfrm>
            <a:off x="6556248" y="3950208"/>
            <a:ext cx="2560320" cy="320040"/>
          </a:xfrm>
          <a:prstGeom prst="rect">
            <a:avLst/>
          </a:prstGeom>
          <a:noFill/>
        </p:spPr>
        <p:txBody>
          <a:bodyPr wrap="square">
            <a:spAutoFit/>
          </a:bodyPr>
          <a:lstStyle/>
          <a:p>
            <a:pPr algn="l"/>
            <a:r>
              <a:rPr sz="850" b="0" i="0">
                <a:solidFill>
                  <a:srgbClr val="1A1A1A"/>
                </a:solidFill>
                <a:latin typeface="Inter"/>
              </a:rPr>
              <a:t>Finance</a:t>
            </a:r>
          </a:p>
        </p:txBody>
      </p:sp>
      <p:sp>
        <p:nvSpPr>
          <p:cNvPr id="30" name="TextBox 29"/>
          <p:cNvSpPr txBox="1"/>
          <p:nvPr/>
        </p:nvSpPr>
        <p:spPr>
          <a:xfrm>
            <a:off x="9509760" y="3950208"/>
            <a:ext cx="2011680" cy="320040"/>
          </a:xfrm>
          <a:prstGeom prst="rect">
            <a:avLst/>
          </a:prstGeom>
          <a:noFill/>
        </p:spPr>
        <p:txBody>
          <a:bodyPr wrap="square">
            <a:spAutoFit/>
          </a:bodyPr>
          <a:lstStyle/>
          <a:p>
            <a:pPr algn="r"/>
            <a:r>
              <a:rPr sz="850" b="0" i="0">
                <a:solidFill>
                  <a:srgbClr val="5A5A5A"/>
                </a:solidFill>
                <a:latin typeface="Inter"/>
              </a:rPr>
              <a:t>6 months</a:t>
            </a:r>
          </a:p>
        </p:txBody>
      </p:sp>
      <p:sp>
        <p:nvSpPr>
          <p:cNvPr id="31" name="TextBox 30"/>
          <p:cNvSpPr txBox="1"/>
          <p:nvPr/>
        </p:nvSpPr>
        <p:spPr>
          <a:xfrm>
            <a:off x="6556248" y="4334256"/>
            <a:ext cx="2560320" cy="320040"/>
          </a:xfrm>
          <a:prstGeom prst="rect">
            <a:avLst/>
          </a:prstGeom>
          <a:noFill/>
        </p:spPr>
        <p:txBody>
          <a:bodyPr wrap="square">
            <a:spAutoFit/>
          </a:bodyPr>
          <a:lstStyle/>
          <a:p>
            <a:pPr algn="l"/>
            <a:r>
              <a:rPr sz="850" b="0" i="0">
                <a:solidFill>
                  <a:srgbClr val="1A1A1A"/>
                </a:solidFill>
                <a:latin typeface="Inter"/>
              </a:rPr>
              <a:t>Healthcare</a:t>
            </a:r>
          </a:p>
        </p:txBody>
      </p:sp>
      <p:sp>
        <p:nvSpPr>
          <p:cNvPr id="32" name="TextBox 31"/>
          <p:cNvSpPr txBox="1"/>
          <p:nvPr/>
        </p:nvSpPr>
        <p:spPr>
          <a:xfrm>
            <a:off x="9509760" y="4334256"/>
            <a:ext cx="2011680" cy="320040"/>
          </a:xfrm>
          <a:prstGeom prst="rect">
            <a:avLst/>
          </a:prstGeom>
          <a:noFill/>
        </p:spPr>
        <p:txBody>
          <a:bodyPr wrap="square">
            <a:spAutoFit/>
          </a:bodyPr>
          <a:lstStyle/>
          <a:p>
            <a:pPr algn="r"/>
            <a:r>
              <a:rPr sz="850" b="0" i="0">
                <a:solidFill>
                  <a:srgbClr val="5A5A5A"/>
                </a:solidFill>
                <a:latin typeface="Inter"/>
              </a:rPr>
              <a:t>9 months</a:t>
            </a:r>
          </a:p>
        </p:txBody>
      </p:sp>
      <p:sp>
        <p:nvSpPr>
          <p:cNvPr id="33" name="TextBox 32"/>
          <p:cNvSpPr txBox="1"/>
          <p:nvPr/>
        </p:nvSpPr>
        <p:spPr>
          <a:xfrm>
            <a:off x="6556248" y="4718304"/>
            <a:ext cx="2560320" cy="320040"/>
          </a:xfrm>
          <a:prstGeom prst="rect">
            <a:avLst/>
          </a:prstGeom>
          <a:noFill/>
        </p:spPr>
        <p:txBody>
          <a:bodyPr wrap="square">
            <a:spAutoFit/>
          </a:bodyPr>
          <a:lstStyle/>
          <a:p>
            <a:pPr algn="l"/>
            <a:r>
              <a:rPr sz="850" b="0" i="0">
                <a:solidFill>
                  <a:srgbClr val="1A1A1A"/>
                </a:solidFill>
                <a:latin typeface="Inter"/>
              </a:rPr>
              <a:t>Retail</a:t>
            </a:r>
          </a:p>
        </p:txBody>
      </p:sp>
      <p:sp>
        <p:nvSpPr>
          <p:cNvPr id="34" name="TextBox 33"/>
          <p:cNvSpPr txBox="1"/>
          <p:nvPr/>
        </p:nvSpPr>
        <p:spPr>
          <a:xfrm>
            <a:off x="9509760" y="4718304"/>
            <a:ext cx="2011680" cy="320040"/>
          </a:xfrm>
          <a:prstGeom prst="rect">
            <a:avLst/>
          </a:prstGeom>
          <a:noFill/>
        </p:spPr>
        <p:txBody>
          <a:bodyPr wrap="square">
            <a:spAutoFit/>
          </a:bodyPr>
          <a:lstStyle/>
          <a:p>
            <a:pPr algn="r"/>
            <a:r>
              <a:rPr sz="850" b="0" i="0">
                <a:solidFill>
                  <a:srgbClr val="5A5A5A"/>
                </a:solidFill>
                <a:latin typeface="Inter"/>
              </a:rPr>
              <a:t>11 months</a:t>
            </a:r>
          </a:p>
        </p:txBody>
      </p:sp>
      <p:sp>
        <p:nvSpPr>
          <p:cNvPr id="35" name="TextBox 34"/>
          <p:cNvSpPr txBox="1"/>
          <p:nvPr/>
        </p:nvSpPr>
        <p:spPr>
          <a:xfrm>
            <a:off x="6556248" y="5102352"/>
            <a:ext cx="2560320" cy="320040"/>
          </a:xfrm>
          <a:prstGeom prst="rect">
            <a:avLst/>
          </a:prstGeom>
          <a:noFill/>
        </p:spPr>
        <p:txBody>
          <a:bodyPr wrap="square">
            <a:spAutoFit/>
          </a:bodyPr>
          <a:lstStyle/>
          <a:p>
            <a:pPr algn="l"/>
            <a:r>
              <a:rPr sz="850" b="0" i="0">
                <a:solidFill>
                  <a:srgbClr val="1A1A1A"/>
                </a:solidFill>
                <a:latin typeface="Inter"/>
              </a:rPr>
              <a:t>Manufacturing</a:t>
            </a:r>
          </a:p>
        </p:txBody>
      </p:sp>
      <p:sp>
        <p:nvSpPr>
          <p:cNvPr id="36" name="TextBox 35"/>
          <p:cNvSpPr txBox="1"/>
          <p:nvPr/>
        </p:nvSpPr>
        <p:spPr>
          <a:xfrm>
            <a:off x="9509760" y="5102352"/>
            <a:ext cx="2011680" cy="320040"/>
          </a:xfrm>
          <a:prstGeom prst="rect">
            <a:avLst/>
          </a:prstGeom>
          <a:noFill/>
        </p:spPr>
        <p:txBody>
          <a:bodyPr wrap="square">
            <a:spAutoFit/>
          </a:bodyPr>
          <a:lstStyle/>
          <a:p>
            <a:pPr algn="r"/>
            <a:r>
              <a:rPr sz="850" b="0" i="0">
                <a:solidFill>
                  <a:srgbClr val="5A5A5A"/>
                </a:solidFill>
                <a:latin typeface="Inter"/>
              </a:rPr>
              <a:t>14 months</a:t>
            </a:r>
          </a:p>
        </p:txBody>
      </p:sp>
      <p:sp>
        <p:nvSpPr>
          <p:cNvPr id="37" name="TextBox 36"/>
          <p:cNvSpPr txBox="1"/>
          <p:nvPr/>
        </p:nvSpPr>
        <p:spPr>
          <a:xfrm>
            <a:off x="6556248" y="5486400"/>
            <a:ext cx="2560320" cy="320040"/>
          </a:xfrm>
          <a:prstGeom prst="rect">
            <a:avLst/>
          </a:prstGeom>
          <a:noFill/>
        </p:spPr>
        <p:txBody>
          <a:bodyPr wrap="square">
            <a:spAutoFit/>
          </a:bodyPr>
          <a:lstStyle/>
          <a:p>
            <a:pPr algn="l"/>
            <a:r>
              <a:rPr sz="850" b="0" i="0">
                <a:solidFill>
                  <a:srgbClr val="1A1A1A"/>
                </a:solidFill>
                <a:latin typeface="Inter"/>
              </a:rPr>
              <a:t>Construction</a:t>
            </a:r>
          </a:p>
        </p:txBody>
      </p:sp>
      <p:sp>
        <p:nvSpPr>
          <p:cNvPr id="38" name="TextBox 37"/>
          <p:cNvSpPr txBox="1"/>
          <p:nvPr/>
        </p:nvSpPr>
        <p:spPr>
          <a:xfrm>
            <a:off x="9509760" y="5486400"/>
            <a:ext cx="2011680" cy="320040"/>
          </a:xfrm>
          <a:prstGeom prst="rect">
            <a:avLst/>
          </a:prstGeom>
          <a:noFill/>
        </p:spPr>
        <p:txBody>
          <a:bodyPr wrap="square">
            <a:spAutoFit/>
          </a:bodyPr>
          <a:lstStyle/>
          <a:p>
            <a:pPr algn="r"/>
            <a:r>
              <a:rPr sz="850" b="0" i="0">
                <a:solidFill>
                  <a:srgbClr val="5A5A5A"/>
                </a:solidFill>
                <a:latin typeface="Inter"/>
              </a:rPr>
              <a:t>18 months</a:t>
            </a:r>
          </a:p>
        </p:txBody>
      </p:sp>
      <p:sp>
        <p:nvSpPr>
          <p:cNvPr id="39" name="TextBox 38"/>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40" name="TextBox 39"/>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10 / 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ML — CLASSIFICATION</a:t>
            </a:r>
          </a:p>
        </p:txBody>
      </p:sp>
      <p:sp>
        <p:nvSpPr>
          <p:cNvPr id="3" name="TextBox 2"/>
          <p:cNvSpPr txBox="1"/>
          <p:nvPr/>
        </p:nvSpPr>
        <p:spPr>
          <a:xfrm>
            <a:off x="502920" y="777240"/>
            <a:ext cx="9144000" cy="640080"/>
          </a:xfrm>
          <a:prstGeom prst="rect">
            <a:avLst/>
          </a:prstGeom>
          <a:noFill/>
        </p:spPr>
        <p:txBody>
          <a:bodyPr wrap="square">
            <a:spAutoFit/>
          </a:bodyPr>
          <a:lstStyle/>
          <a:p>
            <a:pPr algn="l"/>
            <a:r>
              <a:rPr sz="2800" b="0" i="0">
                <a:solidFill>
                  <a:srgbClr val="1A1A1A"/>
                </a:solidFill>
                <a:latin typeface="Inter"/>
              </a:rPr>
              <a:t>Who adopts AI? — Classification model results</a:t>
            </a:r>
          </a:p>
        </p:txBody>
      </p:sp>
      <p:cxnSp>
        <p:nvCxnSpPr>
          <p:cNvPr id="4" name="Connector 3"/>
          <p:cNvCxnSpPr/>
          <p:nvPr/>
        </p:nvCxnSpPr>
        <p:spPr>
          <a:xfrm>
            <a:off x="502920" y="1481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1664208"/>
            <a:ext cx="1828800" cy="274320"/>
          </a:xfrm>
          <a:prstGeom prst="rect">
            <a:avLst/>
          </a:prstGeom>
          <a:noFill/>
        </p:spPr>
        <p:txBody>
          <a:bodyPr wrap="square">
            <a:spAutoFit/>
          </a:bodyPr>
          <a:lstStyle/>
          <a:p>
            <a:pPr algn="l"/>
            <a:r>
              <a:rPr sz="700" b="1" i="0">
                <a:solidFill>
                  <a:srgbClr val="8A8A8A"/>
                </a:solidFill>
                <a:latin typeface="Inter"/>
              </a:rPr>
              <a:t>Model</a:t>
            </a:r>
          </a:p>
        </p:txBody>
      </p:sp>
      <p:sp>
        <p:nvSpPr>
          <p:cNvPr id="6" name="TextBox 5"/>
          <p:cNvSpPr txBox="1"/>
          <p:nvPr/>
        </p:nvSpPr>
        <p:spPr>
          <a:xfrm>
            <a:off x="5303520" y="1664208"/>
            <a:ext cx="1828800" cy="274320"/>
          </a:xfrm>
          <a:prstGeom prst="rect">
            <a:avLst/>
          </a:prstGeom>
          <a:noFill/>
        </p:spPr>
        <p:txBody>
          <a:bodyPr wrap="square">
            <a:spAutoFit/>
          </a:bodyPr>
          <a:lstStyle/>
          <a:p>
            <a:pPr algn="l"/>
            <a:r>
              <a:rPr sz="700" b="1" i="0">
                <a:solidFill>
                  <a:srgbClr val="8A8A8A"/>
                </a:solidFill>
                <a:latin typeface="Inter"/>
              </a:rPr>
              <a:t>F1-Score</a:t>
            </a:r>
          </a:p>
        </p:txBody>
      </p:sp>
      <p:sp>
        <p:nvSpPr>
          <p:cNvPr id="7" name="TextBox 6"/>
          <p:cNvSpPr txBox="1"/>
          <p:nvPr/>
        </p:nvSpPr>
        <p:spPr>
          <a:xfrm>
            <a:off x="7315200" y="1664208"/>
            <a:ext cx="1828800" cy="274320"/>
          </a:xfrm>
          <a:prstGeom prst="rect">
            <a:avLst/>
          </a:prstGeom>
          <a:noFill/>
        </p:spPr>
        <p:txBody>
          <a:bodyPr wrap="square">
            <a:spAutoFit/>
          </a:bodyPr>
          <a:lstStyle/>
          <a:p>
            <a:pPr algn="l"/>
            <a:r>
              <a:rPr sz="700" b="1" i="0">
                <a:solidFill>
                  <a:srgbClr val="8A8A8A"/>
                </a:solidFill>
                <a:latin typeface="Inter"/>
              </a:rPr>
              <a:t>ROC-AUC</a:t>
            </a:r>
          </a:p>
        </p:txBody>
      </p:sp>
      <p:sp>
        <p:nvSpPr>
          <p:cNvPr id="8" name="TextBox 7"/>
          <p:cNvSpPr txBox="1"/>
          <p:nvPr/>
        </p:nvSpPr>
        <p:spPr>
          <a:xfrm>
            <a:off x="9326880" y="1664208"/>
            <a:ext cx="1828800" cy="274320"/>
          </a:xfrm>
          <a:prstGeom prst="rect">
            <a:avLst/>
          </a:prstGeom>
          <a:noFill/>
        </p:spPr>
        <p:txBody>
          <a:bodyPr wrap="square">
            <a:spAutoFit/>
          </a:bodyPr>
          <a:lstStyle/>
          <a:p>
            <a:pPr algn="l"/>
            <a:r>
              <a:rPr sz="700" b="1" i="0">
                <a:solidFill>
                  <a:srgbClr val="8A8A8A"/>
                </a:solidFill>
                <a:latin typeface="Inter"/>
              </a:rPr>
              <a:t>Status</a:t>
            </a:r>
          </a:p>
        </p:txBody>
      </p:sp>
      <p:cxnSp>
        <p:nvCxnSpPr>
          <p:cNvPr id="9" name="Connector 8"/>
          <p:cNvCxnSpPr/>
          <p:nvPr/>
        </p:nvCxnSpPr>
        <p:spPr>
          <a:xfrm>
            <a:off x="502920" y="1993392"/>
            <a:ext cx="109728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066543"/>
            <a:ext cx="4389120" cy="457200"/>
          </a:xfrm>
          <a:prstGeom prst="rect">
            <a:avLst/>
          </a:prstGeom>
          <a:noFill/>
        </p:spPr>
        <p:txBody>
          <a:bodyPr wrap="square">
            <a:spAutoFit/>
          </a:bodyPr>
          <a:lstStyle/>
          <a:p>
            <a:pPr algn="l"/>
            <a:r>
              <a:rPr sz="1000" b="0" i="0">
                <a:solidFill>
                  <a:srgbClr val="5A5A5A"/>
                </a:solidFill>
                <a:latin typeface="Inter"/>
              </a:rPr>
              <a:t>Logistic Regression</a:t>
            </a:r>
          </a:p>
        </p:txBody>
      </p:sp>
      <p:sp>
        <p:nvSpPr>
          <p:cNvPr id="11" name="TextBox 10"/>
          <p:cNvSpPr txBox="1"/>
          <p:nvPr/>
        </p:nvSpPr>
        <p:spPr>
          <a:xfrm>
            <a:off x="5303520" y="2066543"/>
            <a:ext cx="1645920" cy="457200"/>
          </a:xfrm>
          <a:prstGeom prst="rect">
            <a:avLst/>
          </a:prstGeom>
          <a:noFill/>
        </p:spPr>
        <p:txBody>
          <a:bodyPr wrap="square">
            <a:spAutoFit/>
          </a:bodyPr>
          <a:lstStyle/>
          <a:p>
            <a:pPr algn="l"/>
            <a:r>
              <a:rPr sz="1000" b="0" i="0">
                <a:solidFill>
                  <a:srgbClr val="5A5A5A"/>
                </a:solidFill>
                <a:latin typeface="Inter"/>
              </a:rPr>
              <a:t>0.831</a:t>
            </a:r>
          </a:p>
        </p:txBody>
      </p:sp>
      <p:sp>
        <p:nvSpPr>
          <p:cNvPr id="12" name="TextBox 11"/>
          <p:cNvSpPr txBox="1"/>
          <p:nvPr/>
        </p:nvSpPr>
        <p:spPr>
          <a:xfrm>
            <a:off x="7315200" y="2066543"/>
            <a:ext cx="1645920" cy="457200"/>
          </a:xfrm>
          <a:prstGeom prst="rect">
            <a:avLst/>
          </a:prstGeom>
          <a:noFill/>
        </p:spPr>
        <p:txBody>
          <a:bodyPr wrap="square">
            <a:spAutoFit/>
          </a:bodyPr>
          <a:lstStyle/>
          <a:p>
            <a:pPr algn="l"/>
            <a:r>
              <a:rPr sz="1000" b="0" i="0">
                <a:solidFill>
                  <a:srgbClr val="5A5A5A"/>
                </a:solidFill>
                <a:latin typeface="Inter"/>
              </a:rPr>
              <a:t>0.912</a:t>
            </a:r>
          </a:p>
        </p:txBody>
      </p:sp>
      <p:cxnSp>
        <p:nvCxnSpPr>
          <p:cNvPr id="13" name="Connector 12"/>
          <p:cNvCxnSpPr/>
          <p:nvPr/>
        </p:nvCxnSpPr>
        <p:spPr>
          <a:xfrm>
            <a:off x="502920" y="2606039"/>
            <a:ext cx="109728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 y="2660903"/>
            <a:ext cx="4389120" cy="457200"/>
          </a:xfrm>
          <a:prstGeom prst="rect">
            <a:avLst/>
          </a:prstGeom>
          <a:noFill/>
        </p:spPr>
        <p:txBody>
          <a:bodyPr wrap="square">
            <a:spAutoFit/>
          </a:bodyPr>
          <a:lstStyle/>
          <a:p>
            <a:pPr algn="l"/>
            <a:r>
              <a:rPr sz="1000" b="0" i="0">
                <a:solidFill>
                  <a:srgbClr val="5A5A5A"/>
                </a:solidFill>
                <a:latin typeface="Inter"/>
              </a:rPr>
              <a:t>Random Forest</a:t>
            </a:r>
          </a:p>
        </p:txBody>
      </p:sp>
      <p:sp>
        <p:nvSpPr>
          <p:cNvPr id="15" name="TextBox 14"/>
          <p:cNvSpPr txBox="1"/>
          <p:nvPr/>
        </p:nvSpPr>
        <p:spPr>
          <a:xfrm>
            <a:off x="5303520" y="2660903"/>
            <a:ext cx="1645920" cy="457200"/>
          </a:xfrm>
          <a:prstGeom prst="rect">
            <a:avLst/>
          </a:prstGeom>
          <a:noFill/>
        </p:spPr>
        <p:txBody>
          <a:bodyPr wrap="square">
            <a:spAutoFit/>
          </a:bodyPr>
          <a:lstStyle/>
          <a:p>
            <a:pPr algn="l"/>
            <a:r>
              <a:rPr sz="1000" b="0" i="0">
                <a:solidFill>
                  <a:srgbClr val="5A5A5A"/>
                </a:solidFill>
                <a:latin typeface="Inter"/>
              </a:rPr>
              <a:t>0.887</a:t>
            </a:r>
          </a:p>
        </p:txBody>
      </p:sp>
      <p:sp>
        <p:nvSpPr>
          <p:cNvPr id="16" name="TextBox 15"/>
          <p:cNvSpPr txBox="1"/>
          <p:nvPr/>
        </p:nvSpPr>
        <p:spPr>
          <a:xfrm>
            <a:off x="7315200" y="2660903"/>
            <a:ext cx="1645920" cy="457200"/>
          </a:xfrm>
          <a:prstGeom prst="rect">
            <a:avLst/>
          </a:prstGeom>
          <a:noFill/>
        </p:spPr>
        <p:txBody>
          <a:bodyPr wrap="square">
            <a:spAutoFit/>
          </a:bodyPr>
          <a:lstStyle/>
          <a:p>
            <a:pPr algn="l"/>
            <a:r>
              <a:rPr sz="1000" b="0" i="0">
                <a:solidFill>
                  <a:srgbClr val="5A5A5A"/>
                </a:solidFill>
                <a:latin typeface="Inter"/>
              </a:rPr>
              <a:t>0.958</a:t>
            </a:r>
          </a:p>
        </p:txBody>
      </p:sp>
      <p:cxnSp>
        <p:nvCxnSpPr>
          <p:cNvPr id="17" name="Connector 16"/>
          <p:cNvCxnSpPr/>
          <p:nvPr/>
        </p:nvCxnSpPr>
        <p:spPr>
          <a:xfrm>
            <a:off x="502920" y="3200399"/>
            <a:ext cx="109728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11480" y="3200399"/>
            <a:ext cx="11155680" cy="557784"/>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3255263"/>
            <a:ext cx="4389120" cy="457200"/>
          </a:xfrm>
          <a:prstGeom prst="rect">
            <a:avLst/>
          </a:prstGeom>
          <a:noFill/>
        </p:spPr>
        <p:txBody>
          <a:bodyPr wrap="square">
            <a:spAutoFit/>
          </a:bodyPr>
          <a:lstStyle/>
          <a:p>
            <a:pPr algn="l"/>
            <a:r>
              <a:rPr sz="1000" b="1" i="0">
                <a:solidFill>
                  <a:srgbClr val="1A1A1A"/>
                </a:solidFill>
                <a:latin typeface="Inter"/>
              </a:rPr>
              <a:t>Gradient Boosting</a:t>
            </a:r>
          </a:p>
        </p:txBody>
      </p:sp>
      <p:sp>
        <p:nvSpPr>
          <p:cNvPr id="20" name="TextBox 19"/>
          <p:cNvSpPr txBox="1"/>
          <p:nvPr/>
        </p:nvSpPr>
        <p:spPr>
          <a:xfrm>
            <a:off x="5303520" y="3255263"/>
            <a:ext cx="1645920" cy="457200"/>
          </a:xfrm>
          <a:prstGeom prst="rect">
            <a:avLst/>
          </a:prstGeom>
          <a:noFill/>
        </p:spPr>
        <p:txBody>
          <a:bodyPr wrap="square">
            <a:spAutoFit/>
          </a:bodyPr>
          <a:lstStyle/>
          <a:p>
            <a:pPr algn="l"/>
            <a:r>
              <a:rPr sz="1000" b="0" i="0">
                <a:solidFill>
                  <a:srgbClr val="1A1A1A"/>
                </a:solidFill>
                <a:latin typeface="Inter"/>
              </a:rPr>
              <a:t>0.901</a:t>
            </a:r>
          </a:p>
        </p:txBody>
      </p:sp>
      <p:sp>
        <p:nvSpPr>
          <p:cNvPr id="21" name="TextBox 20"/>
          <p:cNvSpPr txBox="1"/>
          <p:nvPr/>
        </p:nvSpPr>
        <p:spPr>
          <a:xfrm>
            <a:off x="7315200" y="3255263"/>
            <a:ext cx="1645920" cy="457200"/>
          </a:xfrm>
          <a:prstGeom prst="rect">
            <a:avLst/>
          </a:prstGeom>
          <a:noFill/>
        </p:spPr>
        <p:txBody>
          <a:bodyPr wrap="square">
            <a:spAutoFit/>
          </a:bodyPr>
          <a:lstStyle/>
          <a:p>
            <a:pPr algn="l"/>
            <a:r>
              <a:rPr sz="1000" b="0" i="0">
                <a:solidFill>
                  <a:srgbClr val="1A1A1A"/>
                </a:solidFill>
                <a:latin typeface="Inter"/>
              </a:rPr>
              <a:t>0.971</a:t>
            </a:r>
          </a:p>
        </p:txBody>
      </p:sp>
      <p:sp>
        <p:nvSpPr>
          <p:cNvPr id="22" name="TextBox 21"/>
          <p:cNvSpPr txBox="1"/>
          <p:nvPr/>
        </p:nvSpPr>
        <p:spPr>
          <a:xfrm>
            <a:off x="9326880" y="3255263"/>
            <a:ext cx="1645920" cy="457200"/>
          </a:xfrm>
          <a:prstGeom prst="rect">
            <a:avLst/>
          </a:prstGeom>
          <a:noFill/>
        </p:spPr>
        <p:txBody>
          <a:bodyPr wrap="square">
            <a:spAutoFit/>
          </a:bodyPr>
          <a:lstStyle/>
          <a:p>
            <a:pPr algn="l"/>
            <a:r>
              <a:rPr sz="800" b="0" i="0">
                <a:solidFill>
                  <a:srgbClr val="8A8A8A"/>
                </a:solidFill>
                <a:latin typeface="Inter"/>
              </a:rPr>
              <a:t>Selected</a:t>
            </a:r>
          </a:p>
        </p:txBody>
      </p:sp>
      <p:cxnSp>
        <p:nvCxnSpPr>
          <p:cNvPr id="23" name="Connector 22"/>
          <p:cNvCxnSpPr/>
          <p:nvPr/>
        </p:nvCxnSpPr>
        <p:spPr>
          <a:xfrm>
            <a:off x="502920" y="3794759"/>
            <a:ext cx="109728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02920" y="3849623"/>
            <a:ext cx="4389120" cy="457200"/>
          </a:xfrm>
          <a:prstGeom prst="rect">
            <a:avLst/>
          </a:prstGeom>
          <a:noFill/>
        </p:spPr>
        <p:txBody>
          <a:bodyPr wrap="square">
            <a:spAutoFit/>
          </a:bodyPr>
          <a:lstStyle/>
          <a:p>
            <a:pPr algn="l"/>
            <a:r>
              <a:rPr sz="1000" b="0" i="0">
                <a:solidFill>
                  <a:srgbClr val="5A5A5A"/>
                </a:solidFill>
                <a:latin typeface="Inter"/>
              </a:rPr>
              <a:t>LinearSVC</a:t>
            </a:r>
          </a:p>
        </p:txBody>
      </p:sp>
      <p:sp>
        <p:nvSpPr>
          <p:cNvPr id="25" name="TextBox 24"/>
          <p:cNvSpPr txBox="1"/>
          <p:nvPr/>
        </p:nvSpPr>
        <p:spPr>
          <a:xfrm>
            <a:off x="5303520" y="3849623"/>
            <a:ext cx="1645920" cy="457200"/>
          </a:xfrm>
          <a:prstGeom prst="rect">
            <a:avLst/>
          </a:prstGeom>
          <a:noFill/>
        </p:spPr>
        <p:txBody>
          <a:bodyPr wrap="square">
            <a:spAutoFit/>
          </a:bodyPr>
          <a:lstStyle/>
          <a:p>
            <a:pPr algn="l"/>
            <a:r>
              <a:rPr sz="1000" b="0" i="0">
                <a:solidFill>
                  <a:srgbClr val="5A5A5A"/>
                </a:solidFill>
                <a:latin typeface="Inter"/>
              </a:rPr>
              <a:t>0.863</a:t>
            </a:r>
          </a:p>
        </p:txBody>
      </p:sp>
      <p:sp>
        <p:nvSpPr>
          <p:cNvPr id="26" name="TextBox 25"/>
          <p:cNvSpPr txBox="1"/>
          <p:nvPr/>
        </p:nvSpPr>
        <p:spPr>
          <a:xfrm>
            <a:off x="7315200" y="3849623"/>
            <a:ext cx="1645920" cy="457200"/>
          </a:xfrm>
          <a:prstGeom prst="rect">
            <a:avLst/>
          </a:prstGeom>
          <a:noFill/>
        </p:spPr>
        <p:txBody>
          <a:bodyPr wrap="square">
            <a:spAutoFit/>
          </a:bodyPr>
          <a:lstStyle/>
          <a:p>
            <a:pPr algn="l"/>
            <a:r>
              <a:rPr sz="1000" b="0" i="0">
                <a:solidFill>
                  <a:srgbClr val="5A5A5A"/>
                </a:solidFill>
                <a:latin typeface="Inter"/>
              </a:rPr>
              <a:t>0.941</a:t>
            </a:r>
          </a:p>
        </p:txBody>
      </p:sp>
      <p:cxnSp>
        <p:nvCxnSpPr>
          <p:cNvPr id="27" name="Connector 26"/>
          <p:cNvCxnSpPr/>
          <p:nvPr/>
        </p:nvCxnSpPr>
        <p:spPr>
          <a:xfrm>
            <a:off x="502920" y="4389119"/>
            <a:ext cx="109728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 y="4443983"/>
            <a:ext cx="4389120" cy="457200"/>
          </a:xfrm>
          <a:prstGeom prst="rect">
            <a:avLst/>
          </a:prstGeom>
          <a:noFill/>
        </p:spPr>
        <p:txBody>
          <a:bodyPr wrap="square">
            <a:spAutoFit/>
          </a:bodyPr>
          <a:lstStyle/>
          <a:p>
            <a:pPr algn="l"/>
            <a:r>
              <a:rPr sz="1000" b="0" i="0">
                <a:solidFill>
                  <a:srgbClr val="5A5A5A"/>
                </a:solidFill>
                <a:latin typeface="Inter"/>
              </a:rPr>
              <a:t>KNN  (k = 7)</a:t>
            </a:r>
          </a:p>
        </p:txBody>
      </p:sp>
      <p:sp>
        <p:nvSpPr>
          <p:cNvPr id="29" name="TextBox 28"/>
          <p:cNvSpPr txBox="1"/>
          <p:nvPr/>
        </p:nvSpPr>
        <p:spPr>
          <a:xfrm>
            <a:off x="5303520" y="4443983"/>
            <a:ext cx="1645920" cy="457200"/>
          </a:xfrm>
          <a:prstGeom prst="rect">
            <a:avLst/>
          </a:prstGeom>
          <a:noFill/>
        </p:spPr>
        <p:txBody>
          <a:bodyPr wrap="square">
            <a:spAutoFit/>
          </a:bodyPr>
          <a:lstStyle/>
          <a:p>
            <a:pPr algn="l"/>
            <a:r>
              <a:rPr sz="1000" b="0" i="0">
                <a:solidFill>
                  <a:srgbClr val="5A5A5A"/>
                </a:solidFill>
                <a:latin typeface="Inter"/>
              </a:rPr>
              <a:t>0.812</a:t>
            </a:r>
          </a:p>
        </p:txBody>
      </p:sp>
      <p:sp>
        <p:nvSpPr>
          <p:cNvPr id="30" name="TextBox 29"/>
          <p:cNvSpPr txBox="1"/>
          <p:nvPr/>
        </p:nvSpPr>
        <p:spPr>
          <a:xfrm>
            <a:off x="7315200" y="4443983"/>
            <a:ext cx="1645920" cy="457200"/>
          </a:xfrm>
          <a:prstGeom prst="rect">
            <a:avLst/>
          </a:prstGeom>
          <a:noFill/>
        </p:spPr>
        <p:txBody>
          <a:bodyPr wrap="square">
            <a:spAutoFit/>
          </a:bodyPr>
          <a:lstStyle/>
          <a:p>
            <a:pPr algn="l"/>
            <a:r>
              <a:rPr sz="1000" b="0" i="0">
                <a:solidFill>
                  <a:srgbClr val="5A5A5A"/>
                </a:solidFill>
                <a:latin typeface="Inter"/>
              </a:rPr>
              <a:t>0.893</a:t>
            </a:r>
          </a:p>
        </p:txBody>
      </p:sp>
      <p:cxnSp>
        <p:nvCxnSpPr>
          <p:cNvPr id="31" name="Connector 30"/>
          <p:cNvCxnSpPr/>
          <p:nvPr/>
        </p:nvCxnSpPr>
        <p:spPr>
          <a:xfrm>
            <a:off x="502920" y="4983479"/>
            <a:ext cx="109728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8412480" y="1993392"/>
            <a:ext cx="3474720" cy="411480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41080" y="2148840"/>
            <a:ext cx="9144000" cy="274320"/>
          </a:xfrm>
          <a:prstGeom prst="rect">
            <a:avLst/>
          </a:prstGeom>
          <a:noFill/>
        </p:spPr>
        <p:txBody>
          <a:bodyPr wrap="square">
            <a:spAutoFit/>
          </a:bodyPr>
          <a:lstStyle/>
          <a:p>
            <a:pPr algn="l"/>
            <a:r>
              <a:rPr sz="700" b="1" i="0">
                <a:solidFill>
                  <a:srgbClr val="8A8A8A"/>
                </a:solidFill>
                <a:latin typeface="Inter"/>
              </a:rPr>
              <a:t>TOP PREDICTORS</a:t>
            </a:r>
          </a:p>
        </p:txBody>
      </p:sp>
      <p:cxnSp>
        <p:nvCxnSpPr>
          <p:cNvPr id="34" name="Connector 33"/>
          <p:cNvCxnSpPr/>
          <p:nvPr/>
        </p:nvCxnSpPr>
        <p:spPr>
          <a:xfrm>
            <a:off x="8641080" y="2514600"/>
            <a:ext cx="29260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641080" y="2560320"/>
            <a:ext cx="2011680" cy="347472"/>
          </a:xfrm>
          <a:prstGeom prst="rect">
            <a:avLst/>
          </a:prstGeom>
          <a:noFill/>
        </p:spPr>
        <p:txBody>
          <a:bodyPr wrap="square">
            <a:spAutoFit/>
          </a:bodyPr>
          <a:lstStyle/>
          <a:p>
            <a:pPr algn="l"/>
            <a:r>
              <a:rPr sz="800" b="0" i="0">
                <a:solidFill>
                  <a:srgbClr val="1A1A1A"/>
                </a:solidFill>
                <a:latin typeface="Inter"/>
              </a:rPr>
              <a:t>digital_maturity</a:t>
            </a:r>
          </a:p>
        </p:txBody>
      </p:sp>
      <p:sp>
        <p:nvSpPr>
          <p:cNvPr id="36" name="TextBox 35"/>
          <p:cNvSpPr txBox="1"/>
          <p:nvPr/>
        </p:nvSpPr>
        <p:spPr>
          <a:xfrm>
            <a:off x="10972800" y="2560320"/>
            <a:ext cx="548640" cy="347472"/>
          </a:xfrm>
          <a:prstGeom prst="rect">
            <a:avLst/>
          </a:prstGeom>
          <a:noFill/>
        </p:spPr>
        <p:txBody>
          <a:bodyPr wrap="square">
            <a:spAutoFit/>
          </a:bodyPr>
          <a:lstStyle/>
          <a:p>
            <a:pPr algn="r"/>
            <a:r>
              <a:rPr sz="800" b="0" i="0">
                <a:solidFill>
                  <a:srgbClr val="8A8A8A"/>
                </a:solidFill>
                <a:latin typeface="Inter"/>
              </a:rPr>
              <a:t>0.28</a:t>
            </a:r>
          </a:p>
        </p:txBody>
      </p:sp>
      <p:cxnSp>
        <p:nvCxnSpPr>
          <p:cNvPr id="37" name="Connector 36"/>
          <p:cNvCxnSpPr/>
          <p:nvPr/>
        </p:nvCxnSpPr>
        <p:spPr>
          <a:xfrm>
            <a:off x="8641080" y="2953512"/>
            <a:ext cx="29260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641080" y="2999232"/>
            <a:ext cx="2011680" cy="347472"/>
          </a:xfrm>
          <a:prstGeom prst="rect">
            <a:avLst/>
          </a:prstGeom>
          <a:noFill/>
        </p:spPr>
        <p:txBody>
          <a:bodyPr wrap="square">
            <a:spAutoFit/>
          </a:bodyPr>
          <a:lstStyle/>
          <a:p>
            <a:pPr algn="l"/>
            <a:r>
              <a:rPr sz="800" b="0" i="0">
                <a:solidFill>
                  <a:srgbClr val="1A1A1A"/>
                </a:solidFill>
                <a:latin typeface="Inter"/>
              </a:rPr>
              <a:t>cloud_adopted</a:t>
            </a:r>
          </a:p>
        </p:txBody>
      </p:sp>
      <p:sp>
        <p:nvSpPr>
          <p:cNvPr id="39" name="TextBox 38"/>
          <p:cNvSpPr txBox="1"/>
          <p:nvPr/>
        </p:nvSpPr>
        <p:spPr>
          <a:xfrm>
            <a:off x="10972800" y="2999232"/>
            <a:ext cx="548640" cy="347472"/>
          </a:xfrm>
          <a:prstGeom prst="rect">
            <a:avLst/>
          </a:prstGeom>
          <a:noFill/>
        </p:spPr>
        <p:txBody>
          <a:bodyPr wrap="square">
            <a:spAutoFit/>
          </a:bodyPr>
          <a:lstStyle/>
          <a:p>
            <a:pPr algn="r"/>
            <a:r>
              <a:rPr sz="800" b="0" i="0">
                <a:solidFill>
                  <a:srgbClr val="8A8A8A"/>
                </a:solidFill>
                <a:latin typeface="Inter"/>
              </a:rPr>
              <a:t>0.22</a:t>
            </a:r>
          </a:p>
        </p:txBody>
      </p:sp>
      <p:cxnSp>
        <p:nvCxnSpPr>
          <p:cNvPr id="40" name="Connector 39"/>
          <p:cNvCxnSpPr/>
          <p:nvPr/>
        </p:nvCxnSpPr>
        <p:spPr>
          <a:xfrm>
            <a:off x="8641080" y="3392424"/>
            <a:ext cx="29260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641080" y="3438144"/>
            <a:ext cx="2011680" cy="347472"/>
          </a:xfrm>
          <a:prstGeom prst="rect">
            <a:avLst/>
          </a:prstGeom>
          <a:noFill/>
        </p:spPr>
        <p:txBody>
          <a:bodyPr wrap="square">
            <a:spAutoFit/>
          </a:bodyPr>
          <a:lstStyle/>
          <a:p>
            <a:pPr algn="l"/>
            <a:r>
              <a:rPr sz="800" b="0" i="0">
                <a:solidFill>
                  <a:srgbClr val="1A1A1A"/>
                </a:solidFill>
                <a:latin typeface="Inter"/>
              </a:rPr>
              <a:t>tech_invest_pct</a:t>
            </a:r>
          </a:p>
        </p:txBody>
      </p:sp>
      <p:sp>
        <p:nvSpPr>
          <p:cNvPr id="42" name="TextBox 41"/>
          <p:cNvSpPr txBox="1"/>
          <p:nvPr/>
        </p:nvSpPr>
        <p:spPr>
          <a:xfrm>
            <a:off x="10972800" y="3438144"/>
            <a:ext cx="548640" cy="347472"/>
          </a:xfrm>
          <a:prstGeom prst="rect">
            <a:avLst/>
          </a:prstGeom>
          <a:noFill/>
        </p:spPr>
        <p:txBody>
          <a:bodyPr wrap="square">
            <a:spAutoFit/>
          </a:bodyPr>
          <a:lstStyle/>
          <a:p>
            <a:pPr algn="r"/>
            <a:r>
              <a:rPr sz="800" b="0" i="0">
                <a:solidFill>
                  <a:srgbClr val="8A8A8A"/>
                </a:solidFill>
                <a:latin typeface="Inter"/>
              </a:rPr>
              <a:t>0.18</a:t>
            </a:r>
          </a:p>
        </p:txBody>
      </p:sp>
      <p:cxnSp>
        <p:nvCxnSpPr>
          <p:cNvPr id="43" name="Connector 42"/>
          <p:cNvCxnSpPr/>
          <p:nvPr/>
        </p:nvCxnSpPr>
        <p:spPr>
          <a:xfrm>
            <a:off x="8641080" y="3831336"/>
            <a:ext cx="29260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641080" y="3877056"/>
            <a:ext cx="2011680" cy="347472"/>
          </a:xfrm>
          <a:prstGeom prst="rect">
            <a:avLst/>
          </a:prstGeom>
          <a:noFill/>
        </p:spPr>
        <p:txBody>
          <a:bodyPr wrap="square">
            <a:spAutoFit/>
          </a:bodyPr>
          <a:lstStyle/>
          <a:p>
            <a:pPr algn="l"/>
            <a:r>
              <a:rPr sz="800" b="0" i="0">
                <a:solidFill>
                  <a:srgbClr val="1A1A1A"/>
                </a:solidFill>
                <a:latin typeface="Inter"/>
              </a:rPr>
              <a:t>has_data_strategy</a:t>
            </a:r>
          </a:p>
        </p:txBody>
      </p:sp>
      <p:sp>
        <p:nvSpPr>
          <p:cNvPr id="45" name="TextBox 44"/>
          <p:cNvSpPr txBox="1"/>
          <p:nvPr/>
        </p:nvSpPr>
        <p:spPr>
          <a:xfrm>
            <a:off x="10972800" y="3877056"/>
            <a:ext cx="548640" cy="347472"/>
          </a:xfrm>
          <a:prstGeom prst="rect">
            <a:avLst/>
          </a:prstGeom>
          <a:noFill/>
        </p:spPr>
        <p:txBody>
          <a:bodyPr wrap="square">
            <a:spAutoFit/>
          </a:bodyPr>
          <a:lstStyle/>
          <a:p>
            <a:pPr algn="r"/>
            <a:r>
              <a:rPr sz="800" b="0" i="0">
                <a:solidFill>
                  <a:srgbClr val="8A8A8A"/>
                </a:solidFill>
                <a:latin typeface="Inter"/>
              </a:rPr>
              <a:t>0.14</a:t>
            </a:r>
          </a:p>
        </p:txBody>
      </p:sp>
      <p:cxnSp>
        <p:nvCxnSpPr>
          <p:cNvPr id="46" name="Connector 45"/>
          <p:cNvCxnSpPr/>
          <p:nvPr/>
        </p:nvCxnSpPr>
        <p:spPr>
          <a:xfrm>
            <a:off x="8641080" y="4270248"/>
            <a:ext cx="29260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641080" y="4315968"/>
            <a:ext cx="2011680" cy="347472"/>
          </a:xfrm>
          <a:prstGeom prst="rect">
            <a:avLst/>
          </a:prstGeom>
          <a:noFill/>
        </p:spPr>
        <p:txBody>
          <a:bodyPr wrap="square">
            <a:spAutoFit/>
          </a:bodyPr>
          <a:lstStyle/>
          <a:p>
            <a:pPr algn="l"/>
            <a:r>
              <a:rPr sz="800" b="0" i="0">
                <a:solidFill>
                  <a:srgbClr val="1A1A1A"/>
                </a:solidFill>
                <a:latin typeface="Inter"/>
              </a:rPr>
              <a:t>ceo_tech_background</a:t>
            </a:r>
          </a:p>
        </p:txBody>
      </p:sp>
      <p:sp>
        <p:nvSpPr>
          <p:cNvPr id="48" name="TextBox 47"/>
          <p:cNvSpPr txBox="1"/>
          <p:nvPr/>
        </p:nvSpPr>
        <p:spPr>
          <a:xfrm>
            <a:off x="10972800" y="4315968"/>
            <a:ext cx="548640" cy="347472"/>
          </a:xfrm>
          <a:prstGeom prst="rect">
            <a:avLst/>
          </a:prstGeom>
          <a:noFill/>
        </p:spPr>
        <p:txBody>
          <a:bodyPr wrap="square">
            <a:spAutoFit/>
          </a:bodyPr>
          <a:lstStyle/>
          <a:p>
            <a:pPr algn="r"/>
            <a:r>
              <a:rPr sz="800" b="0" i="0">
                <a:solidFill>
                  <a:srgbClr val="8A8A8A"/>
                </a:solidFill>
                <a:latin typeface="Inter"/>
              </a:rPr>
              <a:t>0.09</a:t>
            </a:r>
          </a:p>
        </p:txBody>
      </p:sp>
      <p:cxnSp>
        <p:nvCxnSpPr>
          <p:cNvPr id="49" name="Connector 48"/>
          <p:cNvCxnSpPr/>
          <p:nvPr/>
        </p:nvCxnSpPr>
        <p:spPr>
          <a:xfrm>
            <a:off x="8641080" y="4709160"/>
            <a:ext cx="29260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8641080" y="4754880"/>
            <a:ext cx="2011680" cy="347472"/>
          </a:xfrm>
          <a:prstGeom prst="rect">
            <a:avLst/>
          </a:prstGeom>
          <a:noFill/>
        </p:spPr>
        <p:txBody>
          <a:bodyPr wrap="square">
            <a:spAutoFit/>
          </a:bodyPr>
          <a:lstStyle/>
          <a:p>
            <a:pPr algn="l"/>
            <a:r>
              <a:rPr sz="800" b="0" i="0">
                <a:solidFill>
                  <a:srgbClr val="1A1A1A"/>
                </a:solidFill>
                <a:latin typeface="Inter"/>
              </a:rPr>
              <a:t>employees</a:t>
            </a:r>
          </a:p>
        </p:txBody>
      </p:sp>
      <p:sp>
        <p:nvSpPr>
          <p:cNvPr id="51" name="TextBox 50"/>
          <p:cNvSpPr txBox="1"/>
          <p:nvPr/>
        </p:nvSpPr>
        <p:spPr>
          <a:xfrm>
            <a:off x="10972800" y="4754880"/>
            <a:ext cx="548640" cy="347472"/>
          </a:xfrm>
          <a:prstGeom prst="rect">
            <a:avLst/>
          </a:prstGeom>
          <a:noFill/>
        </p:spPr>
        <p:txBody>
          <a:bodyPr wrap="square">
            <a:spAutoFit/>
          </a:bodyPr>
          <a:lstStyle/>
          <a:p>
            <a:pPr algn="r"/>
            <a:r>
              <a:rPr sz="800" b="0" i="0">
                <a:solidFill>
                  <a:srgbClr val="8A8A8A"/>
                </a:solidFill>
                <a:latin typeface="Inter"/>
              </a:rPr>
              <a:t>0.05</a:t>
            </a:r>
          </a:p>
        </p:txBody>
      </p:sp>
      <p:cxnSp>
        <p:nvCxnSpPr>
          <p:cNvPr id="52" name="Connector 51"/>
          <p:cNvCxnSpPr/>
          <p:nvPr/>
        </p:nvCxnSpPr>
        <p:spPr>
          <a:xfrm>
            <a:off x="8641080" y="5148072"/>
            <a:ext cx="29260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641080" y="5193792"/>
            <a:ext cx="2011680" cy="347472"/>
          </a:xfrm>
          <a:prstGeom prst="rect">
            <a:avLst/>
          </a:prstGeom>
          <a:noFill/>
        </p:spPr>
        <p:txBody>
          <a:bodyPr wrap="square">
            <a:spAutoFit/>
          </a:bodyPr>
          <a:lstStyle/>
          <a:p>
            <a:pPr algn="l"/>
            <a:r>
              <a:rPr sz="800" b="0" i="0">
                <a:solidFill>
                  <a:srgbClr val="1A1A1A"/>
                </a:solidFill>
                <a:latin typeface="Inter"/>
              </a:rPr>
              <a:t>revenue_m_usd</a:t>
            </a:r>
          </a:p>
        </p:txBody>
      </p:sp>
      <p:sp>
        <p:nvSpPr>
          <p:cNvPr id="54" name="TextBox 53"/>
          <p:cNvSpPr txBox="1"/>
          <p:nvPr/>
        </p:nvSpPr>
        <p:spPr>
          <a:xfrm>
            <a:off x="10972800" y="5193792"/>
            <a:ext cx="548640" cy="347472"/>
          </a:xfrm>
          <a:prstGeom prst="rect">
            <a:avLst/>
          </a:prstGeom>
          <a:noFill/>
        </p:spPr>
        <p:txBody>
          <a:bodyPr wrap="square">
            <a:spAutoFit/>
          </a:bodyPr>
          <a:lstStyle/>
          <a:p>
            <a:pPr algn="r"/>
            <a:r>
              <a:rPr sz="800" b="0" i="0">
                <a:solidFill>
                  <a:srgbClr val="8A8A8A"/>
                </a:solidFill>
                <a:latin typeface="Inter"/>
              </a:rPr>
              <a:t>0.04</a:t>
            </a:r>
          </a:p>
        </p:txBody>
      </p:sp>
      <p:cxnSp>
        <p:nvCxnSpPr>
          <p:cNvPr id="55" name="Connector 54"/>
          <p:cNvCxnSpPr/>
          <p:nvPr/>
        </p:nvCxnSpPr>
        <p:spPr>
          <a:xfrm>
            <a:off x="8641080" y="5586984"/>
            <a:ext cx="29260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57" name="TextBox 56"/>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11 / 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ML — CLUSTERING</a:t>
            </a:r>
          </a:p>
        </p:txBody>
      </p:sp>
      <p:sp>
        <p:nvSpPr>
          <p:cNvPr id="3" name="TextBox 2"/>
          <p:cNvSpPr txBox="1"/>
          <p:nvPr/>
        </p:nvSpPr>
        <p:spPr>
          <a:xfrm>
            <a:off x="502920" y="777240"/>
            <a:ext cx="9144000" cy="640080"/>
          </a:xfrm>
          <a:prstGeom prst="rect">
            <a:avLst/>
          </a:prstGeom>
          <a:noFill/>
        </p:spPr>
        <p:txBody>
          <a:bodyPr wrap="square">
            <a:spAutoFit/>
          </a:bodyPr>
          <a:lstStyle/>
          <a:p>
            <a:pPr algn="l"/>
            <a:r>
              <a:rPr sz="2800" b="0" i="0">
                <a:solidFill>
                  <a:srgbClr val="1A1A1A"/>
                </a:solidFill>
                <a:latin typeface="Inter"/>
              </a:rPr>
              <a:t>Four SME segments — K-Means, k = 4</a:t>
            </a:r>
          </a:p>
        </p:txBody>
      </p:sp>
      <p:cxnSp>
        <p:nvCxnSpPr>
          <p:cNvPr id="4" name="Connector 3"/>
          <p:cNvCxnSpPr/>
          <p:nvPr/>
        </p:nvCxnSpPr>
        <p:spPr>
          <a:xfrm>
            <a:off x="502920" y="1481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02920" y="1664208"/>
            <a:ext cx="2724912" cy="475488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28800"/>
            <a:ext cx="2359152" cy="1280160"/>
          </a:xfrm>
          <a:prstGeom prst="rect">
            <a:avLst/>
          </a:prstGeom>
          <a:noFill/>
        </p:spPr>
        <p:txBody>
          <a:bodyPr wrap="square">
            <a:spAutoFit/>
          </a:bodyPr>
          <a:lstStyle/>
          <a:p>
            <a:pPr algn="l"/>
            <a:r>
              <a:rPr sz="5200" b="0" i="0">
                <a:solidFill>
                  <a:srgbClr val="1A1A1A"/>
                </a:solidFill>
                <a:latin typeface="Inter"/>
              </a:rPr>
              <a:t>94%</a:t>
            </a:r>
          </a:p>
        </p:txBody>
      </p:sp>
      <p:cxnSp>
        <p:nvCxnSpPr>
          <p:cNvPr id="7" name="Connector 6"/>
          <p:cNvCxnSpPr/>
          <p:nvPr/>
        </p:nvCxnSpPr>
        <p:spPr>
          <a:xfrm>
            <a:off x="731520" y="3090672"/>
            <a:ext cx="226771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3200400"/>
            <a:ext cx="2359152" cy="384048"/>
          </a:xfrm>
          <a:prstGeom prst="rect">
            <a:avLst/>
          </a:prstGeom>
          <a:noFill/>
        </p:spPr>
        <p:txBody>
          <a:bodyPr wrap="square">
            <a:spAutoFit/>
          </a:bodyPr>
          <a:lstStyle/>
          <a:p>
            <a:pPr algn="l"/>
            <a:r>
              <a:rPr sz="1100" b="0" i="0">
                <a:solidFill>
                  <a:srgbClr val="1A1A1A"/>
                </a:solidFill>
                <a:latin typeface="Inter"/>
              </a:rPr>
              <a:t>AI Pioneers</a:t>
            </a:r>
          </a:p>
        </p:txBody>
      </p:sp>
      <p:sp>
        <p:nvSpPr>
          <p:cNvPr id="9" name="TextBox 8"/>
          <p:cNvSpPr txBox="1"/>
          <p:nvPr/>
        </p:nvSpPr>
        <p:spPr>
          <a:xfrm>
            <a:off x="731520" y="3611880"/>
            <a:ext cx="2359152" cy="365760"/>
          </a:xfrm>
          <a:prstGeom prst="rect">
            <a:avLst/>
          </a:prstGeom>
          <a:noFill/>
        </p:spPr>
        <p:txBody>
          <a:bodyPr wrap="square">
            <a:spAutoFit/>
          </a:bodyPr>
          <a:lstStyle/>
          <a:p>
            <a:pPr algn="l"/>
            <a:r>
              <a:rPr sz="750" b="0" i="0">
                <a:solidFill>
                  <a:srgbClr val="8A8A8A"/>
                </a:solidFill>
                <a:latin typeface="Inter"/>
              </a:rPr>
              <a:t>High digital maturity · cloud-first · full data strategy</a:t>
            </a:r>
          </a:p>
        </p:txBody>
      </p:sp>
      <p:sp>
        <p:nvSpPr>
          <p:cNvPr id="10" name="TextBox 9"/>
          <p:cNvSpPr txBox="1"/>
          <p:nvPr/>
        </p:nvSpPr>
        <p:spPr>
          <a:xfrm>
            <a:off x="731520" y="4069080"/>
            <a:ext cx="2359152" cy="1828800"/>
          </a:xfrm>
          <a:prstGeom prst="rect">
            <a:avLst/>
          </a:prstGeom>
          <a:noFill/>
        </p:spPr>
        <p:txBody>
          <a:bodyPr wrap="square">
            <a:spAutoFit/>
          </a:bodyPr>
          <a:lstStyle/>
          <a:p>
            <a:pPr algn="l"/>
            <a:r>
              <a:rPr sz="850" b="0" i="0">
                <a:solidFill>
                  <a:srgbClr val="5A5A5A"/>
                </a:solidFill>
                <a:latin typeface="Inter"/>
              </a:rPr>
              <a:t>Early movers with structural, compounding advantage. Effectively unreachable for non-adopting competitors in the same market.</a:t>
            </a:r>
          </a:p>
        </p:txBody>
      </p:sp>
      <p:sp>
        <p:nvSpPr>
          <p:cNvPr id="11" name="Rectangle 10"/>
          <p:cNvSpPr/>
          <p:nvPr/>
        </p:nvSpPr>
        <p:spPr>
          <a:xfrm>
            <a:off x="3337560" y="1664208"/>
            <a:ext cx="2724912" cy="475488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828800"/>
            <a:ext cx="2359152" cy="1280160"/>
          </a:xfrm>
          <a:prstGeom prst="rect">
            <a:avLst/>
          </a:prstGeom>
          <a:noFill/>
        </p:spPr>
        <p:txBody>
          <a:bodyPr wrap="square">
            <a:spAutoFit/>
          </a:bodyPr>
          <a:lstStyle/>
          <a:p>
            <a:pPr algn="l"/>
            <a:r>
              <a:rPr sz="5200" b="0" i="0">
                <a:solidFill>
                  <a:srgbClr val="1A1A1A"/>
                </a:solidFill>
                <a:latin typeface="Inter"/>
              </a:rPr>
              <a:t>62%</a:t>
            </a:r>
          </a:p>
        </p:txBody>
      </p:sp>
      <p:cxnSp>
        <p:nvCxnSpPr>
          <p:cNvPr id="13" name="Connector 12"/>
          <p:cNvCxnSpPr/>
          <p:nvPr/>
        </p:nvCxnSpPr>
        <p:spPr>
          <a:xfrm>
            <a:off x="3566160" y="3090672"/>
            <a:ext cx="226771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566160" y="3200400"/>
            <a:ext cx="2359152" cy="384048"/>
          </a:xfrm>
          <a:prstGeom prst="rect">
            <a:avLst/>
          </a:prstGeom>
          <a:noFill/>
        </p:spPr>
        <p:txBody>
          <a:bodyPr wrap="square">
            <a:spAutoFit/>
          </a:bodyPr>
          <a:lstStyle/>
          <a:p>
            <a:pPr algn="l"/>
            <a:r>
              <a:rPr sz="1100" b="0" i="0">
                <a:solidFill>
                  <a:srgbClr val="1A1A1A"/>
                </a:solidFill>
                <a:latin typeface="Inter"/>
              </a:rPr>
              <a:t>Digital Explorers</a:t>
            </a:r>
          </a:p>
        </p:txBody>
      </p:sp>
      <p:sp>
        <p:nvSpPr>
          <p:cNvPr id="15" name="TextBox 14"/>
          <p:cNvSpPr txBox="1"/>
          <p:nvPr/>
        </p:nvSpPr>
        <p:spPr>
          <a:xfrm>
            <a:off x="3566160" y="3611880"/>
            <a:ext cx="2359152" cy="365760"/>
          </a:xfrm>
          <a:prstGeom prst="rect">
            <a:avLst/>
          </a:prstGeom>
          <a:noFill/>
        </p:spPr>
        <p:txBody>
          <a:bodyPr wrap="square">
            <a:spAutoFit/>
          </a:bodyPr>
          <a:lstStyle/>
          <a:p>
            <a:pPr algn="l"/>
            <a:r>
              <a:rPr sz="750" b="0" i="0">
                <a:solidFill>
                  <a:srgbClr val="8A8A8A"/>
                </a:solidFill>
                <a:latin typeface="Inter"/>
              </a:rPr>
              <a:t>Growing adoption · strong cloud base · cost-conscious</a:t>
            </a:r>
          </a:p>
        </p:txBody>
      </p:sp>
      <p:sp>
        <p:nvSpPr>
          <p:cNvPr id="16" name="TextBox 15"/>
          <p:cNvSpPr txBox="1"/>
          <p:nvPr/>
        </p:nvSpPr>
        <p:spPr>
          <a:xfrm>
            <a:off x="3566160" y="4069080"/>
            <a:ext cx="2359152" cy="1828800"/>
          </a:xfrm>
          <a:prstGeom prst="rect">
            <a:avLst/>
          </a:prstGeom>
          <a:noFill/>
        </p:spPr>
        <p:txBody>
          <a:bodyPr wrap="square">
            <a:spAutoFit/>
          </a:bodyPr>
          <a:lstStyle/>
          <a:p>
            <a:pPr algn="l"/>
            <a:r>
              <a:rPr sz="850" b="0" i="0">
                <a:solidFill>
                  <a:srgbClr val="5A5A5A"/>
                </a:solidFill>
                <a:latin typeface="Inter"/>
              </a:rPr>
              <a:t>Actively investing. Likely to cross 80% adoption by 2026. The segment with the highest momentum.</a:t>
            </a:r>
          </a:p>
        </p:txBody>
      </p:sp>
      <p:sp>
        <p:nvSpPr>
          <p:cNvPr id="17" name="Rectangle 16"/>
          <p:cNvSpPr/>
          <p:nvPr/>
        </p:nvSpPr>
        <p:spPr>
          <a:xfrm>
            <a:off x="6172200" y="1664208"/>
            <a:ext cx="2724912" cy="475488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828800"/>
            <a:ext cx="2359152" cy="1280160"/>
          </a:xfrm>
          <a:prstGeom prst="rect">
            <a:avLst/>
          </a:prstGeom>
          <a:noFill/>
        </p:spPr>
        <p:txBody>
          <a:bodyPr wrap="square">
            <a:spAutoFit/>
          </a:bodyPr>
          <a:lstStyle/>
          <a:p>
            <a:pPr algn="l"/>
            <a:r>
              <a:rPr sz="5200" b="0" i="0">
                <a:solidFill>
                  <a:srgbClr val="1A1A1A"/>
                </a:solidFill>
                <a:latin typeface="Inter"/>
              </a:rPr>
              <a:t>48%</a:t>
            </a:r>
          </a:p>
        </p:txBody>
      </p:sp>
      <p:cxnSp>
        <p:nvCxnSpPr>
          <p:cNvPr id="19" name="Connector 18"/>
          <p:cNvCxnSpPr/>
          <p:nvPr/>
        </p:nvCxnSpPr>
        <p:spPr>
          <a:xfrm>
            <a:off x="6400800" y="3090672"/>
            <a:ext cx="226771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0" y="3200400"/>
            <a:ext cx="2359152" cy="384048"/>
          </a:xfrm>
          <a:prstGeom prst="rect">
            <a:avLst/>
          </a:prstGeom>
          <a:noFill/>
        </p:spPr>
        <p:txBody>
          <a:bodyPr wrap="square">
            <a:spAutoFit/>
          </a:bodyPr>
          <a:lstStyle/>
          <a:p>
            <a:pPr algn="l"/>
            <a:r>
              <a:rPr sz="1100" b="0" i="0">
                <a:solidFill>
                  <a:srgbClr val="1A1A1A"/>
                </a:solidFill>
                <a:latin typeface="Inter"/>
              </a:rPr>
              <a:t>Cost-Conscious Adopters</a:t>
            </a:r>
          </a:p>
        </p:txBody>
      </p:sp>
      <p:sp>
        <p:nvSpPr>
          <p:cNvPr id="21" name="TextBox 20"/>
          <p:cNvSpPr txBox="1"/>
          <p:nvPr/>
        </p:nvSpPr>
        <p:spPr>
          <a:xfrm>
            <a:off x="6400800" y="3611880"/>
            <a:ext cx="2359152" cy="365760"/>
          </a:xfrm>
          <a:prstGeom prst="rect">
            <a:avLst/>
          </a:prstGeom>
          <a:noFill/>
        </p:spPr>
        <p:txBody>
          <a:bodyPr wrap="square">
            <a:spAutoFit/>
          </a:bodyPr>
          <a:lstStyle/>
          <a:p>
            <a:pPr algn="l"/>
            <a:r>
              <a:rPr sz="750" b="0" i="0">
                <a:solidFill>
                  <a:srgbClr val="8A8A8A"/>
                </a:solidFill>
                <a:latin typeface="Inter"/>
              </a:rPr>
              <a:t>Selective tool use · ROI-first mindset · mid-range maturity</a:t>
            </a:r>
          </a:p>
        </p:txBody>
      </p:sp>
      <p:sp>
        <p:nvSpPr>
          <p:cNvPr id="22" name="TextBox 21"/>
          <p:cNvSpPr txBox="1"/>
          <p:nvPr/>
        </p:nvSpPr>
        <p:spPr>
          <a:xfrm>
            <a:off x="6400800" y="4069080"/>
            <a:ext cx="2359152" cy="1828800"/>
          </a:xfrm>
          <a:prstGeom prst="rect">
            <a:avLst/>
          </a:prstGeom>
          <a:noFill/>
        </p:spPr>
        <p:txBody>
          <a:bodyPr wrap="square">
            <a:spAutoFit/>
          </a:bodyPr>
          <a:lstStyle/>
          <a:p>
            <a:pPr algn="l"/>
            <a:r>
              <a:rPr sz="850" b="0" i="0">
                <a:solidFill>
                  <a:srgbClr val="5A5A5A"/>
                </a:solidFill>
                <a:latin typeface="Inter"/>
              </a:rPr>
              <a:t>Pragmatic adopters deploying specific, high-ROI tools. Require a clear payback case before expanding AI spend.</a:t>
            </a:r>
          </a:p>
        </p:txBody>
      </p:sp>
      <p:sp>
        <p:nvSpPr>
          <p:cNvPr id="23" name="Rectangle 22"/>
          <p:cNvSpPr/>
          <p:nvPr/>
        </p:nvSpPr>
        <p:spPr>
          <a:xfrm>
            <a:off x="9006840" y="1664208"/>
            <a:ext cx="2724912" cy="475488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828800"/>
            <a:ext cx="2359152" cy="1280160"/>
          </a:xfrm>
          <a:prstGeom prst="rect">
            <a:avLst/>
          </a:prstGeom>
          <a:noFill/>
        </p:spPr>
        <p:txBody>
          <a:bodyPr wrap="square">
            <a:spAutoFit/>
          </a:bodyPr>
          <a:lstStyle/>
          <a:p>
            <a:pPr algn="l"/>
            <a:r>
              <a:rPr sz="5200" b="0" i="0">
                <a:solidFill>
                  <a:srgbClr val="1A1A1A"/>
                </a:solidFill>
                <a:latin typeface="Inter"/>
              </a:rPr>
              <a:t>12%</a:t>
            </a:r>
          </a:p>
        </p:txBody>
      </p:sp>
      <p:cxnSp>
        <p:nvCxnSpPr>
          <p:cNvPr id="25" name="Connector 24"/>
          <p:cNvCxnSpPr/>
          <p:nvPr/>
        </p:nvCxnSpPr>
        <p:spPr>
          <a:xfrm>
            <a:off x="9235440" y="3090672"/>
            <a:ext cx="226771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35440" y="3200400"/>
            <a:ext cx="2359152" cy="384048"/>
          </a:xfrm>
          <a:prstGeom prst="rect">
            <a:avLst/>
          </a:prstGeom>
          <a:noFill/>
        </p:spPr>
        <p:txBody>
          <a:bodyPr wrap="square">
            <a:spAutoFit/>
          </a:bodyPr>
          <a:lstStyle/>
          <a:p>
            <a:pPr algn="l"/>
            <a:r>
              <a:rPr sz="1100" b="0" i="0">
                <a:solidFill>
                  <a:srgbClr val="1A1A1A"/>
                </a:solidFill>
                <a:latin typeface="Inter"/>
              </a:rPr>
              <a:t>Traditional SMEs</a:t>
            </a:r>
          </a:p>
        </p:txBody>
      </p:sp>
      <p:sp>
        <p:nvSpPr>
          <p:cNvPr id="27" name="TextBox 26"/>
          <p:cNvSpPr txBox="1"/>
          <p:nvPr/>
        </p:nvSpPr>
        <p:spPr>
          <a:xfrm>
            <a:off x="9235440" y="3611880"/>
            <a:ext cx="2359152" cy="365760"/>
          </a:xfrm>
          <a:prstGeom prst="rect">
            <a:avLst/>
          </a:prstGeom>
          <a:noFill/>
        </p:spPr>
        <p:txBody>
          <a:bodyPr wrap="square">
            <a:spAutoFit/>
          </a:bodyPr>
          <a:lstStyle/>
          <a:p>
            <a:pPr algn="l"/>
            <a:r>
              <a:rPr sz="750" b="0" i="0">
                <a:solidFill>
                  <a:srgbClr val="8A8A8A"/>
                </a:solidFill>
                <a:latin typeface="Inter"/>
              </a:rPr>
              <a:t>Low digital maturity · manual workflows · cost as barrier</a:t>
            </a:r>
          </a:p>
        </p:txBody>
      </p:sp>
      <p:sp>
        <p:nvSpPr>
          <p:cNvPr id="28" name="TextBox 27"/>
          <p:cNvSpPr txBox="1"/>
          <p:nvPr/>
        </p:nvSpPr>
        <p:spPr>
          <a:xfrm>
            <a:off x="9235440" y="4069080"/>
            <a:ext cx="2359152" cy="1828800"/>
          </a:xfrm>
          <a:prstGeom prst="rect">
            <a:avLst/>
          </a:prstGeom>
          <a:noFill/>
        </p:spPr>
        <p:txBody>
          <a:bodyPr wrap="square">
            <a:spAutoFit/>
          </a:bodyPr>
          <a:lstStyle/>
          <a:p>
            <a:pPr algn="l"/>
            <a:r>
              <a:rPr sz="850" b="0" i="0">
                <a:solidFill>
                  <a:srgbClr val="5A5A5A"/>
                </a:solidFill>
                <a:latin typeface="Inter"/>
              </a:rPr>
              <a:t>Structurally behind. Risk of competitive displacement as peer adoption crosses 55% in 2025.</a:t>
            </a:r>
          </a:p>
        </p:txBody>
      </p:sp>
      <p:sp>
        <p:nvSpPr>
          <p:cNvPr id="29" name="TextBox 28"/>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30" name="TextBox 29"/>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12 / 17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ML — REGRESSION</a:t>
            </a:r>
          </a:p>
        </p:txBody>
      </p:sp>
      <p:sp>
        <p:nvSpPr>
          <p:cNvPr id="3" name="TextBox 2"/>
          <p:cNvSpPr txBox="1"/>
          <p:nvPr/>
        </p:nvSpPr>
        <p:spPr>
          <a:xfrm>
            <a:off x="502920" y="777240"/>
            <a:ext cx="9144000" cy="640080"/>
          </a:xfrm>
          <a:prstGeom prst="rect">
            <a:avLst/>
          </a:prstGeom>
          <a:noFill/>
        </p:spPr>
        <p:txBody>
          <a:bodyPr wrap="square">
            <a:spAutoFit/>
          </a:bodyPr>
          <a:lstStyle/>
          <a:p>
            <a:pPr algn="l"/>
            <a:r>
              <a:rPr sz="2800" b="0" i="0">
                <a:solidFill>
                  <a:srgbClr val="1A1A1A"/>
                </a:solidFill>
                <a:latin typeface="Inter"/>
              </a:rPr>
              <a:t>Forecast model performance — adoption projection 2025–2028</a:t>
            </a:r>
          </a:p>
        </p:txBody>
      </p:sp>
      <p:cxnSp>
        <p:nvCxnSpPr>
          <p:cNvPr id="4" name="Connector 3"/>
          <p:cNvCxnSpPr/>
          <p:nvPr/>
        </p:nvCxnSpPr>
        <p:spPr>
          <a:xfrm>
            <a:off x="502920" y="1481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1664208"/>
            <a:ext cx="2286000" cy="274320"/>
          </a:xfrm>
          <a:prstGeom prst="rect">
            <a:avLst/>
          </a:prstGeom>
          <a:noFill/>
        </p:spPr>
        <p:txBody>
          <a:bodyPr wrap="square">
            <a:spAutoFit/>
          </a:bodyPr>
          <a:lstStyle/>
          <a:p>
            <a:pPr algn="l"/>
            <a:r>
              <a:rPr sz="700" b="1" i="0">
                <a:solidFill>
                  <a:srgbClr val="8A8A8A"/>
                </a:solidFill>
                <a:latin typeface="Inter"/>
              </a:rPr>
              <a:t>Model</a:t>
            </a:r>
          </a:p>
        </p:txBody>
      </p:sp>
      <p:sp>
        <p:nvSpPr>
          <p:cNvPr id="6" name="TextBox 5"/>
          <p:cNvSpPr txBox="1"/>
          <p:nvPr/>
        </p:nvSpPr>
        <p:spPr>
          <a:xfrm>
            <a:off x="5029200" y="1664208"/>
            <a:ext cx="2286000" cy="274320"/>
          </a:xfrm>
          <a:prstGeom prst="rect">
            <a:avLst/>
          </a:prstGeom>
          <a:noFill/>
        </p:spPr>
        <p:txBody>
          <a:bodyPr wrap="square">
            <a:spAutoFit/>
          </a:bodyPr>
          <a:lstStyle/>
          <a:p>
            <a:pPr algn="l"/>
            <a:r>
              <a:rPr sz="700" b="1" i="0">
                <a:solidFill>
                  <a:srgbClr val="8A8A8A"/>
                </a:solidFill>
                <a:latin typeface="Inter"/>
              </a:rPr>
              <a:t>R²</a:t>
            </a:r>
          </a:p>
        </p:txBody>
      </p:sp>
      <p:sp>
        <p:nvSpPr>
          <p:cNvPr id="7" name="TextBox 6"/>
          <p:cNvSpPr txBox="1"/>
          <p:nvPr/>
        </p:nvSpPr>
        <p:spPr>
          <a:xfrm>
            <a:off x="7132320" y="1664208"/>
            <a:ext cx="2286000" cy="274320"/>
          </a:xfrm>
          <a:prstGeom prst="rect">
            <a:avLst/>
          </a:prstGeom>
          <a:noFill/>
        </p:spPr>
        <p:txBody>
          <a:bodyPr wrap="square">
            <a:spAutoFit/>
          </a:bodyPr>
          <a:lstStyle/>
          <a:p>
            <a:pPr algn="l"/>
            <a:r>
              <a:rPr sz="700" b="1" i="0">
                <a:solidFill>
                  <a:srgbClr val="8A8A8A"/>
                </a:solidFill>
                <a:latin typeface="Inter"/>
              </a:rPr>
              <a:t>RMSE</a:t>
            </a:r>
          </a:p>
        </p:txBody>
      </p:sp>
      <p:sp>
        <p:nvSpPr>
          <p:cNvPr id="8" name="TextBox 7"/>
          <p:cNvSpPr txBox="1"/>
          <p:nvPr/>
        </p:nvSpPr>
        <p:spPr>
          <a:xfrm>
            <a:off x="9144000" y="1664208"/>
            <a:ext cx="2286000" cy="274320"/>
          </a:xfrm>
          <a:prstGeom prst="rect">
            <a:avLst/>
          </a:prstGeom>
          <a:noFill/>
        </p:spPr>
        <p:txBody>
          <a:bodyPr wrap="square">
            <a:spAutoFit/>
          </a:bodyPr>
          <a:lstStyle/>
          <a:p>
            <a:pPr algn="l"/>
            <a:r>
              <a:rPr sz="700" b="1" i="0">
                <a:solidFill>
                  <a:srgbClr val="8A8A8A"/>
                </a:solidFill>
                <a:latin typeface="Inter"/>
              </a:rPr>
              <a:t/>
            </a:r>
          </a:p>
        </p:txBody>
      </p:sp>
      <p:cxnSp>
        <p:nvCxnSpPr>
          <p:cNvPr id="9" name="Connector 8"/>
          <p:cNvCxnSpPr/>
          <p:nvPr/>
        </p:nvCxnSpPr>
        <p:spPr>
          <a:xfrm>
            <a:off x="502920" y="1993392"/>
            <a:ext cx="82296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066543"/>
            <a:ext cx="4114800" cy="457200"/>
          </a:xfrm>
          <a:prstGeom prst="rect">
            <a:avLst/>
          </a:prstGeom>
          <a:noFill/>
        </p:spPr>
        <p:txBody>
          <a:bodyPr wrap="square">
            <a:spAutoFit/>
          </a:bodyPr>
          <a:lstStyle/>
          <a:p>
            <a:pPr algn="l"/>
            <a:r>
              <a:rPr sz="1000" b="0" i="0">
                <a:solidFill>
                  <a:srgbClr val="5A5A5A"/>
                </a:solidFill>
                <a:latin typeface="Inter"/>
              </a:rPr>
              <a:t>Linear Regression</a:t>
            </a:r>
          </a:p>
        </p:txBody>
      </p:sp>
      <p:sp>
        <p:nvSpPr>
          <p:cNvPr id="11" name="TextBox 10"/>
          <p:cNvSpPr txBox="1"/>
          <p:nvPr/>
        </p:nvSpPr>
        <p:spPr>
          <a:xfrm>
            <a:off x="5029200" y="2066543"/>
            <a:ext cx="1645920" cy="457200"/>
          </a:xfrm>
          <a:prstGeom prst="rect">
            <a:avLst/>
          </a:prstGeom>
          <a:noFill/>
        </p:spPr>
        <p:txBody>
          <a:bodyPr wrap="square">
            <a:spAutoFit/>
          </a:bodyPr>
          <a:lstStyle/>
          <a:p>
            <a:pPr algn="l"/>
            <a:r>
              <a:rPr sz="1000" b="0" i="0">
                <a:solidFill>
                  <a:srgbClr val="5A5A5A"/>
                </a:solidFill>
                <a:latin typeface="Inter"/>
              </a:rPr>
              <a:t>0.956</a:t>
            </a:r>
          </a:p>
        </p:txBody>
      </p:sp>
      <p:sp>
        <p:nvSpPr>
          <p:cNvPr id="12" name="TextBox 11"/>
          <p:cNvSpPr txBox="1"/>
          <p:nvPr/>
        </p:nvSpPr>
        <p:spPr>
          <a:xfrm>
            <a:off x="7132320" y="2066543"/>
            <a:ext cx="1645920" cy="457200"/>
          </a:xfrm>
          <a:prstGeom prst="rect">
            <a:avLst/>
          </a:prstGeom>
          <a:noFill/>
        </p:spPr>
        <p:txBody>
          <a:bodyPr wrap="square">
            <a:spAutoFit/>
          </a:bodyPr>
          <a:lstStyle/>
          <a:p>
            <a:pPr algn="l"/>
            <a:r>
              <a:rPr sz="1000" b="0" i="0">
                <a:solidFill>
                  <a:srgbClr val="5A5A5A"/>
                </a:solidFill>
                <a:latin typeface="Inter"/>
              </a:rPr>
              <a:t>0.028</a:t>
            </a:r>
          </a:p>
        </p:txBody>
      </p:sp>
      <p:cxnSp>
        <p:nvCxnSpPr>
          <p:cNvPr id="13" name="Connector 12"/>
          <p:cNvCxnSpPr/>
          <p:nvPr/>
        </p:nvCxnSpPr>
        <p:spPr>
          <a:xfrm>
            <a:off x="502920" y="2606039"/>
            <a:ext cx="82296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 y="2660903"/>
            <a:ext cx="4114800" cy="457200"/>
          </a:xfrm>
          <a:prstGeom prst="rect">
            <a:avLst/>
          </a:prstGeom>
          <a:noFill/>
        </p:spPr>
        <p:txBody>
          <a:bodyPr wrap="square">
            <a:spAutoFit/>
          </a:bodyPr>
          <a:lstStyle/>
          <a:p>
            <a:pPr algn="l"/>
            <a:r>
              <a:rPr sz="1000" b="0" i="0">
                <a:solidFill>
                  <a:srgbClr val="5A5A5A"/>
                </a:solidFill>
                <a:latin typeface="Inter"/>
              </a:rPr>
              <a:t>Polynomial  (deg 2)</a:t>
            </a:r>
          </a:p>
        </p:txBody>
      </p:sp>
      <p:sp>
        <p:nvSpPr>
          <p:cNvPr id="15" name="TextBox 14"/>
          <p:cNvSpPr txBox="1"/>
          <p:nvPr/>
        </p:nvSpPr>
        <p:spPr>
          <a:xfrm>
            <a:off x="5029200" y="2660903"/>
            <a:ext cx="1645920" cy="457200"/>
          </a:xfrm>
          <a:prstGeom prst="rect">
            <a:avLst/>
          </a:prstGeom>
          <a:noFill/>
        </p:spPr>
        <p:txBody>
          <a:bodyPr wrap="square">
            <a:spAutoFit/>
          </a:bodyPr>
          <a:lstStyle/>
          <a:p>
            <a:pPr algn="l"/>
            <a:r>
              <a:rPr sz="1000" b="0" i="0">
                <a:solidFill>
                  <a:srgbClr val="5A5A5A"/>
                </a:solidFill>
                <a:latin typeface="Inter"/>
              </a:rPr>
              <a:t>0.982</a:t>
            </a:r>
          </a:p>
        </p:txBody>
      </p:sp>
      <p:sp>
        <p:nvSpPr>
          <p:cNvPr id="16" name="TextBox 15"/>
          <p:cNvSpPr txBox="1"/>
          <p:nvPr/>
        </p:nvSpPr>
        <p:spPr>
          <a:xfrm>
            <a:off x="7132320" y="2660903"/>
            <a:ext cx="1645920" cy="457200"/>
          </a:xfrm>
          <a:prstGeom prst="rect">
            <a:avLst/>
          </a:prstGeom>
          <a:noFill/>
        </p:spPr>
        <p:txBody>
          <a:bodyPr wrap="square">
            <a:spAutoFit/>
          </a:bodyPr>
          <a:lstStyle/>
          <a:p>
            <a:pPr algn="l"/>
            <a:r>
              <a:rPr sz="1000" b="0" i="0">
                <a:solidFill>
                  <a:srgbClr val="5A5A5A"/>
                </a:solidFill>
                <a:latin typeface="Inter"/>
              </a:rPr>
              <a:t>0.018</a:t>
            </a:r>
          </a:p>
        </p:txBody>
      </p:sp>
      <p:cxnSp>
        <p:nvCxnSpPr>
          <p:cNvPr id="17" name="Connector 16"/>
          <p:cNvCxnSpPr/>
          <p:nvPr/>
        </p:nvCxnSpPr>
        <p:spPr>
          <a:xfrm>
            <a:off x="502920" y="3200399"/>
            <a:ext cx="82296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2920" y="3255263"/>
            <a:ext cx="4114800" cy="457200"/>
          </a:xfrm>
          <a:prstGeom prst="rect">
            <a:avLst/>
          </a:prstGeom>
          <a:noFill/>
        </p:spPr>
        <p:txBody>
          <a:bodyPr wrap="square">
            <a:spAutoFit/>
          </a:bodyPr>
          <a:lstStyle/>
          <a:p>
            <a:pPr algn="l"/>
            <a:r>
              <a:rPr sz="1000" b="0" i="0">
                <a:solidFill>
                  <a:srgbClr val="5A5A5A"/>
                </a:solidFill>
                <a:latin typeface="Inter"/>
              </a:rPr>
              <a:t>Ridge Regression</a:t>
            </a:r>
          </a:p>
        </p:txBody>
      </p:sp>
      <p:sp>
        <p:nvSpPr>
          <p:cNvPr id="19" name="TextBox 18"/>
          <p:cNvSpPr txBox="1"/>
          <p:nvPr/>
        </p:nvSpPr>
        <p:spPr>
          <a:xfrm>
            <a:off x="5029200" y="3255263"/>
            <a:ext cx="1645920" cy="457200"/>
          </a:xfrm>
          <a:prstGeom prst="rect">
            <a:avLst/>
          </a:prstGeom>
          <a:noFill/>
        </p:spPr>
        <p:txBody>
          <a:bodyPr wrap="square">
            <a:spAutoFit/>
          </a:bodyPr>
          <a:lstStyle/>
          <a:p>
            <a:pPr algn="l"/>
            <a:r>
              <a:rPr sz="1000" b="0" i="0">
                <a:solidFill>
                  <a:srgbClr val="5A5A5A"/>
                </a:solidFill>
                <a:latin typeface="Inter"/>
              </a:rPr>
              <a:t>0.988</a:t>
            </a:r>
          </a:p>
        </p:txBody>
      </p:sp>
      <p:sp>
        <p:nvSpPr>
          <p:cNvPr id="20" name="TextBox 19"/>
          <p:cNvSpPr txBox="1"/>
          <p:nvPr/>
        </p:nvSpPr>
        <p:spPr>
          <a:xfrm>
            <a:off x="7132320" y="3255263"/>
            <a:ext cx="1645920" cy="457200"/>
          </a:xfrm>
          <a:prstGeom prst="rect">
            <a:avLst/>
          </a:prstGeom>
          <a:noFill/>
        </p:spPr>
        <p:txBody>
          <a:bodyPr wrap="square">
            <a:spAutoFit/>
          </a:bodyPr>
          <a:lstStyle/>
          <a:p>
            <a:pPr algn="l"/>
            <a:r>
              <a:rPr sz="1000" b="0" i="0">
                <a:solidFill>
                  <a:srgbClr val="5A5A5A"/>
                </a:solidFill>
                <a:latin typeface="Inter"/>
              </a:rPr>
              <a:t>0.014</a:t>
            </a:r>
          </a:p>
        </p:txBody>
      </p:sp>
      <p:cxnSp>
        <p:nvCxnSpPr>
          <p:cNvPr id="21" name="Connector 20"/>
          <p:cNvCxnSpPr/>
          <p:nvPr/>
        </p:nvCxnSpPr>
        <p:spPr>
          <a:xfrm>
            <a:off x="502920" y="3794759"/>
            <a:ext cx="82296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411480" y="3794759"/>
            <a:ext cx="8321040" cy="557784"/>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3849623"/>
            <a:ext cx="4114800" cy="457200"/>
          </a:xfrm>
          <a:prstGeom prst="rect">
            <a:avLst/>
          </a:prstGeom>
          <a:noFill/>
        </p:spPr>
        <p:txBody>
          <a:bodyPr wrap="square">
            <a:spAutoFit/>
          </a:bodyPr>
          <a:lstStyle/>
          <a:p>
            <a:pPr algn="l"/>
            <a:r>
              <a:rPr sz="1000" b="1" i="0">
                <a:solidFill>
                  <a:srgbClr val="1A1A1A"/>
                </a:solidFill>
                <a:latin typeface="Inter"/>
              </a:rPr>
              <a:t>Gradient Boosting</a:t>
            </a:r>
          </a:p>
        </p:txBody>
      </p:sp>
      <p:sp>
        <p:nvSpPr>
          <p:cNvPr id="24" name="TextBox 23"/>
          <p:cNvSpPr txBox="1"/>
          <p:nvPr/>
        </p:nvSpPr>
        <p:spPr>
          <a:xfrm>
            <a:off x="5029200" y="3849623"/>
            <a:ext cx="1645920" cy="457200"/>
          </a:xfrm>
          <a:prstGeom prst="rect">
            <a:avLst/>
          </a:prstGeom>
          <a:noFill/>
        </p:spPr>
        <p:txBody>
          <a:bodyPr wrap="square">
            <a:spAutoFit/>
          </a:bodyPr>
          <a:lstStyle/>
          <a:p>
            <a:pPr algn="l"/>
            <a:r>
              <a:rPr sz="1000" b="0" i="0">
                <a:solidFill>
                  <a:srgbClr val="1A1A1A"/>
                </a:solidFill>
                <a:latin typeface="Inter"/>
              </a:rPr>
              <a:t>0.991</a:t>
            </a:r>
          </a:p>
        </p:txBody>
      </p:sp>
      <p:sp>
        <p:nvSpPr>
          <p:cNvPr id="25" name="TextBox 24"/>
          <p:cNvSpPr txBox="1"/>
          <p:nvPr/>
        </p:nvSpPr>
        <p:spPr>
          <a:xfrm>
            <a:off x="7132320" y="3849623"/>
            <a:ext cx="1645920" cy="457200"/>
          </a:xfrm>
          <a:prstGeom prst="rect">
            <a:avLst/>
          </a:prstGeom>
          <a:noFill/>
        </p:spPr>
        <p:txBody>
          <a:bodyPr wrap="square">
            <a:spAutoFit/>
          </a:bodyPr>
          <a:lstStyle/>
          <a:p>
            <a:pPr algn="l"/>
            <a:r>
              <a:rPr sz="1000" b="0" i="0">
                <a:solidFill>
                  <a:srgbClr val="1A1A1A"/>
                </a:solidFill>
                <a:latin typeface="Inter"/>
              </a:rPr>
              <a:t>0.011</a:t>
            </a:r>
          </a:p>
        </p:txBody>
      </p:sp>
      <p:sp>
        <p:nvSpPr>
          <p:cNvPr id="26" name="TextBox 25"/>
          <p:cNvSpPr txBox="1"/>
          <p:nvPr/>
        </p:nvSpPr>
        <p:spPr>
          <a:xfrm>
            <a:off x="9144000" y="3849623"/>
            <a:ext cx="1645920" cy="457200"/>
          </a:xfrm>
          <a:prstGeom prst="rect">
            <a:avLst/>
          </a:prstGeom>
          <a:noFill/>
        </p:spPr>
        <p:txBody>
          <a:bodyPr wrap="square">
            <a:spAutoFit/>
          </a:bodyPr>
          <a:lstStyle/>
          <a:p>
            <a:pPr algn="l"/>
            <a:r>
              <a:rPr sz="800" b="0" i="0">
                <a:solidFill>
                  <a:srgbClr val="8A8A8A"/>
                </a:solidFill>
                <a:latin typeface="Inter"/>
              </a:rPr>
              <a:t>Selected</a:t>
            </a:r>
          </a:p>
        </p:txBody>
      </p:sp>
      <p:cxnSp>
        <p:nvCxnSpPr>
          <p:cNvPr id="27" name="Connector 26"/>
          <p:cNvCxnSpPr/>
          <p:nvPr/>
        </p:nvCxnSpPr>
        <p:spPr>
          <a:xfrm>
            <a:off x="502920" y="4389119"/>
            <a:ext cx="82296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920" y="4572000"/>
            <a:ext cx="8046720" cy="777240"/>
          </a:xfrm>
          <a:prstGeom prst="rect">
            <a:avLst/>
          </a:prstGeom>
          <a:noFill/>
        </p:spPr>
        <p:txBody>
          <a:bodyPr wrap="square">
            <a:spAutoFit/>
          </a:bodyPr>
          <a:lstStyle/>
          <a:p>
            <a:pPr algn="l"/>
            <a:r>
              <a:rPr sz="900" b="0" i="0">
                <a:solidFill>
                  <a:srgbClr val="5A5A5A"/>
                </a:solidFill>
                <a:latin typeface="Inter"/>
              </a:rPr>
              <a:t>Gradient Boosting achieves near-perfect fit (R² = 0.991) on historical national adoption rates, enabling reliable out-of-sample projection through 2028. Confidence interval: ±2.8 percentage points.</a:t>
            </a:r>
          </a:p>
        </p:txBody>
      </p:sp>
      <p:sp>
        <p:nvSpPr>
          <p:cNvPr id="29" name="Rectangle 28"/>
          <p:cNvSpPr/>
          <p:nvPr/>
        </p:nvSpPr>
        <p:spPr>
          <a:xfrm>
            <a:off x="8869680" y="1664208"/>
            <a:ext cx="3154680" cy="429768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98280" y="1810512"/>
            <a:ext cx="9144000" cy="274320"/>
          </a:xfrm>
          <a:prstGeom prst="rect">
            <a:avLst/>
          </a:prstGeom>
          <a:noFill/>
        </p:spPr>
        <p:txBody>
          <a:bodyPr wrap="square">
            <a:spAutoFit/>
          </a:bodyPr>
          <a:lstStyle/>
          <a:p>
            <a:pPr algn="l"/>
            <a:r>
              <a:rPr sz="700" b="1" i="0">
                <a:solidFill>
                  <a:srgbClr val="8A8A8A"/>
                </a:solidFill>
                <a:latin typeface="Inter"/>
              </a:rPr>
              <a:t>SELECTION RATIONALE</a:t>
            </a:r>
          </a:p>
        </p:txBody>
      </p:sp>
      <p:sp>
        <p:nvSpPr>
          <p:cNvPr id="31" name="TextBox 30"/>
          <p:cNvSpPr txBox="1"/>
          <p:nvPr/>
        </p:nvSpPr>
        <p:spPr>
          <a:xfrm>
            <a:off x="9098280" y="2212848"/>
            <a:ext cx="2743200" cy="3291840"/>
          </a:xfrm>
          <a:prstGeom prst="rect">
            <a:avLst/>
          </a:prstGeom>
          <a:noFill/>
        </p:spPr>
        <p:txBody>
          <a:bodyPr wrap="square">
            <a:spAutoFit/>
          </a:bodyPr>
          <a:lstStyle/>
          <a:p>
            <a:pPr algn="l"/>
            <a:r>
              <a:rPr sz="850" b="0" i="0">
                <a:solidFill>
                  <a:srgbClr val="5A5A5A"/>
                </a:solidFill>
                <a:latin typeface="Inter"/>
              </a:rPr>
              <a:t>Gradient Boosting was selected over Ridge Regression despite comparable R² values because it captures non-linear saturation dynamics that become significant as adoption approaches the 70–80% ceiling in leading industries.
All four models agree on directional trend and 2025 crossing of the majority threshold.</a:t>
            </a:r>
          </a:p>
        </p:txBody>
      </p:sp>
      <p:sp>
        <p:nvSpPr>
          <p:cNvPr id="32" name="TextBox 31"/>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33" name="TextBox 32"/>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13 / 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FORECAST</a:t>
            </a:r>
          </a:p>
        </p:txBody>
      </p:sp>
      <p:sp>
        <p:nvSpPr>
          <p:cNvPr id="3" name="TextBox 2"/>
          <p:cNvSpPr txBox="1"/>
          <p:nvPr/>
        </p:nvSpPr>
        <p:spPr>
          <a:xfrm>
            <a:off x="502920" y="777240"/>
            <a:ext cx="9144000" cy="640080"/>
          </a:xfrm>
          <a:prstGeom prst="rect">
            <a:avLst/>
          </a:prstGeom>
          <a:noFill/>
        </p:spPr>
        <p:txBody>
          <a:bodyPr wrap="square">
            <a:spAutoFit/>
          </a:bodyPr>
          <a:lstStyle/>
          <a:p>
            <a:pPr algn="l"/>
            <a:r>
              <a:rPr sz="2800" b="0" i="0">
                <a:solidFill>
                  <a:srgbClr val="1A1A1A"/>
                </a:solidFill>
                <a:latin typeface="Inter"/>
              </a:rPr>
              <a:t>National AI adoption projection — 2025 to 2028</a:t>
            </a:r>
          </a:p>
        </p:txBody>
      </p:sp>
      <p:cxnSp>
        <p:nvCxnSpPr>
          <p:cNvPr id="4" name="Connector 3"/>
          <p:cNvCxnSpPr/>
          <p:nvPr/>
        </p:nvCxnSpPr>
        <p:spPr>
          <a:xfrm>
            <a:off x="502920" y="1481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502920" y="1664208"/>
            <a:ext cx="2633472" cy="265176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810512"/>
            <a:ext cx="9144000" cy="274320"/>
          </a:xfrm>
          <a:prstGeom prst="rect">
            <a:avLst/>
          </a:prstGeom>
          <a:noFill/>
        </p:spPr>
        <p:txBody>
          <a:bodyPr wrap="square">
            <a:spAutoFit/>
          </a:bodyPr>
          <a:lstStyle/>
          <a:p>
            <a:pPr algn="l"/>
            <a:r>
              <a:rPr sz="700" b="1" i="0">
                <a:solidFill>
                  <a:srgbClr val="8A8A8A"/>
                </a:solidFill>
                <a:latin typeface="Inter"/>
              </a:rPr>
              <a:t>2025</a:t>
            </a:r>
          </a:p>
        </p:txBody>
      </p:sp>
      <p:sp>
        <p:nvSpPr>
          <p:cNvPr id="7" name="TextBox 6"/>
          <p:cNvSpPr txBox="1"/>
          <p:nvPr/>
        </p:nvSpPr>
        <p:spPr>
          <a:xfrm>
            <a:off x="731520" y="2084831"/>
            <a:ext cx="2267712" cy="1097280"/>
          </a:xfrm>
          <a:prstGeom prst="rect">
            <a:avLst/>
          </a:prstGeom>
          <a:noFill/>
        </p:spPr>
        <p:txBody>
          <a:bodyPr wrap="square">
            <a:spAutoFit/>
          </a:bodyPr>
          <a:lstStyle/>
          <a:p>
            <a:pPr algn="l"/>
            <a:r>
              <a:rPr sz="5200" b="0" i="0">
                <a:solidFill>
                  <a:srgbClr val="1A1A1A"/>
                </a:solidFill>
                <a:latin typeface="Inter"/>
              </a:rPr>
              <a:t>55%</a:t>
            </a:r>
          </a:p>
        </p:txBody>
      </p:sp>
      <p:cxnSp>
        <p:nvCxnSpPr>
          <p:cNvPr id="8" name="Connector 7"/>
          <p:cNvCxnSpPr/>
          <p:nvPr/>
        </p:nvCxnSpPr>
        <p:spPr>
          <a:xfrm>
            <a:off x="731520" y="3163824"/>
            <a:ext cx="217627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3255264"/>
            <a:ext cx="2267712" cy="292608"/>
          </a:xfrm>
          <a:prstGeom prst="rect">
            <a:avLst/>
          </a:prstGeom>
          <a:noFill/>
        </p:spPr>
        <p:txBody>
          <a:bodyPr wrap="square">
            <a:spAutoFit/>
          </a:bodyPr>
          <a:lstStyle/>
          <a:p>
            <a:pPr algn="l"/>
            <a:r>
              <a:rPr sz="850" b="0" i="0">
                <a:solidFill>
                  <a:srgbClr val="1A1A1A"/>
                </a:solidFill>
                <a:latin typeface="Inter"/>
              </a:rPr>
              <a:t>+8 pp from 2024</a:t>
            </a:r>
          </a:p>
        </p:txBody>
      </p:sp>
      <p:sp>
        <p:nvSpPr>
          <p:cNvPr id="10" name="TextBox 9"/>
          <p:cNvSpPr txBox="1"/>
          <p:nvPr/>
        </p:nvSpPr>
        <p:spPr>
          <a:xfrm>
            <a:off x="731520" y="3566160"/>
            <a:ext cx="2267712" cy="292608"/>
          </a:xfrm>
          <a:prstGeom prst="rect">
            <a:avLst/>
          </a:prstGeom>
          <a:noFill/>
        </p:spPr>
        <p:txBody>
          <a:bodyPr wrap="square">
            <a:spAutoFit/>
          </a:bodyPr>
          <a:lstStyle/>
          <a:p>
            <a:pPr algn="l"/>
            <a:r>
              <a:rPr sz="750" b="0" i="0">
                <a:solidFill>
                  <a:srgbClr val="8A8A8A"/>
                </a:solidFill>
                <a:latin typeface="Inter"/>
              </a:rPr>
              <a:t>Majority threshold crossed</a:t>
            </a:r>
          </a:p>
        </p:txBody>
      </p:sp>
      <p:sp>
        <p:nvSpPr>
          <p:cNvPr id="11" name="Rectangle 10"/>
          <p:cNvSpPr/>
          <p:nvPr/>
        </p:nvSpPr>
        <p:spPr>
          <a:xfrm>
            <a:off x="3246120" y="1664208"/>
            <a:ext cx="2633472" cy="265176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810512"/>
            <a:ext cx="9144000" cy="274320"/>
          </a:xfrm>
          <a:prstGeom prst="rect">
            <a:avLst/>
          </a:prstGeom>
          <a:noFill/>
        </p:spPr>
        <p:txBody>
          <a:bodyPr wrap="square">
            <a:spAutoFit/>
          </a:bodyPr>
          <a:lstStyle/>
          <a:p>
            <a:pPr algn="l"/>
            <a:r>
              <a:rPr sz="700" b="1" i="0">
                <a:solidFill>
                  <a:srgbClr val="8A8A8A"/>
                </a:solidFill>
                <a:latin typeface="Inter"/>
              </a:rPr>
              <a:t>2026</a:t>
            </a:r>
          </a:p>
        </p:txBody>
      </p:sp>
      <p:sp>
        <p:nvSpPr>
          <p:cNvPr id="13" name="TextBox 12"/>
          <p:cNvSpPr txBox="1"/>
          <p:nvPr/>
        </p:nvSpPr>
        <p:spPr>
          <a:xfrm>
            <a:off x="3474720" y="2084831"/>
            <a:ext cx="2267712" cy="1097280"/>
          </a:xfrm>
          <a:prstGeom prst="rect">
            <a:avLst/>
          </a:prstGeom>
          <a:noFill/>
        </p:spPr>
        <p:txBody>
          <a:bodyPr wrap="square">
            <a:spAutoFit/>
          </a:bodyPr>
          <a:lstStyle/>
          <a:p>
            <a:pPr algn="l"/>
            <a:r>
              <a:rPr sz="5200" b="0" i="0">
                <a:solidFill>
                  <a:srgbClr val="1A1A1A"/>
                </a:solidFill>
                <a:latin typeface="Inter"/>
              </a:rPr>
              <a:t>62%</a:t>
            </a:r>
          </a:p>
        </p:txBody>
      </p:sp>
      <p:cxnSp>
        <p:nvCxnSpPr>
          <p:cNvPr id="14" name="Connector 13"/>
          <p:cNvCxnSpPr/>
          <p:nvPr/>
        </p:nvCxnSpPr>
        <p:spPr>
          <a:xfrm>
            <a:off x="3474720" y="3163824"/>
            <a:ext cx="217627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474720" y="3255264"/>
            <a:ext cx="2267712" cy="292608"/>
          </a:xfrm>
          <a:prstGeom prst="rect">
            <a:avLst/>
          </a:prstGeom>
          <a:noFill/>
        </p:spPr>
        <p:txBody>
          <a:bodyPr wrap="square">
            <a:spAutoFit/>
          </a:bodyPr>
          <a:lstStyle/>
          <a:p>
            <a:pPr algn="l"/>
            <a:r>
              <a:rPr sz="850" b="0" i="0">
                <a:solidFill>
                  <a:srgbClr val="1A1A1A"/>
                </a:solidFill>
                <a:latin typeface="Inter"/>
              </a:rPr>
              <a:t>+7 pp from 2025</a:t>
            </a:r>
          </a:p>
        </p:txBody>
      </p:sp>
      <p:sp>
        <p:nvSpPr>
          <p:cNvPr id="16" name="TextBox 15"/>
          <p:cNvSpPr txBox="1"/>
          <p:nvPr/>
        </p:nvSpPr>
        <p:spPr>
          <a:xfrm>
            <a:off x="3474720" y="3566160"/>
            <a:ext cx="2267712" cy="292608"/>
          </a:xfrm>
          <a:prstGeom prst="rect">
            <a:avLst/>
          </a:prstGeom>
          <a:noFill/>
        </p:spPr>
        <p:txBody>
          <a:bodyPr wrap="square">
            <a:spAutoFit/>
          </a:bodyPr>
          <a:lstStyle/>
          <a:p>
            <a:pPr algn="l"/>
            <a:r>
              <a:rPr sz="750" b="0" i="0">
                <a:solidFill>
                  <a:srgbClr val="8A8A8A"/>
                </a:solidFill>
                <a:latin typeface="Inter"/>
              </a:rPr>
              <a:t>Acceleration continues</a:t>
            </a:r>
          </a:p>
        </p:txBody>
      </p:sp>
      <p:sp>
        <p:nvSpPr>
          <p:cNvPr id="17" name="Rectangle 16"/>
          <p:cNvSpPr/>
          <p:nvPr/>
        </p:nvSpPr>
        <p:spPr>
          <a:xfrm>
            <a:off x="5989320" y="1664208"/>
            <a:ext cx="2633472" cy="265176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1810512"/>
            <a:ext cx="9144000" cy="274320"/>
          </a:xfrm>
          <a:prstGeom prst="rect">
            <a:avLst/>
          </a:prstGeom>
          <a:noFill/>
        </p:spPr>
        <p:txBody>
          <a:bodyPr wrap="square">
            <a:spAutoFit/>
          </a:bodyPr>
          <a:lstStyle/>
          <a:p>
            <a:pPr algn="l"/>
            <a:r>
              <a:rPr sz="700" b="1" i="0">
                <a:solidFill>
                  <a:srgbClr val="8A8A8A"/>
                </a:solidFill>
                <a:latin typeface="Inter"/>
              </a:rPr>
              <a:t>2027</a:t>
            </a:r>
          </a:p>
        </p:txBody>
      </p:sp>
      <p:sp>
        <p:nvSpPr>
          <p:cNvPr id="19" name="TextBox 18"/>
          <p:cNvSpPr txBox="1"/>
          <p:nvPr/>
        </p:nvSpPr>
        <p:spPr>
          <a:xfrm>
            <a:off x="6217920" y="2084831"/>
            <a:ext cx="2267712" cy="1097280"/>
          </a:xfrm>
          <a:prstGeom prst="rect">
            <a:avLst/>
          </a:prstGeom>
          <a:noFill/>
        </p:spPr>
        <p:txBody>
          <a:bodyPr wrap="square">
            <a:spAutoFit/>
          </a:bodyPr>
          <a:lstStyle/>
          <a:p>
            <a:pPr algn="l"/>
            <a:r>
              <a:rPr sz="5200" b="0" i="0">
                <a:solidFill>
                  <a:srgbClr val="1A1A1A"/>
                </a:solidFill>
                <a:latin typeface="Inter"/>
              </a:rPr>
              <a:t>67%</a:t>
            </a:r>
          </a:p>
        </p:txBody>
      </p:sp>
      <p:cxnSp>
        <p:nvCxnSpPr>
          <p:cNvPr id="20" name="Connector 19"/>
          <p:cNvCxnSpPr/>
          <p:nvPr/>
        </p:nvCxnSpPr>
        <p:spPr>
          <a:xfrm>
            <a:off x="6217920" y="3163824"/>
            <a:ext cx="217627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217920" y="3255264"/>
            <a:ext cx="2267712" cy="292608"/>
          </a:xfrm>
          <a:prstGeom prst="rect">
            <a:avLst/>
          </a:prstGeom>
          <a:noFill/>
        </p:spPr>
        <p:txBody>
          <a:bodyPr wrap="square">
            <a:spAutoFit/>
          </a:bodyPr>
          <a:lstStyle/>
          <a:p>
            <a:pPr algn="l"/>
            <a:r>
              <a:rPr sz="850" b="0" i="0">
                <a:solidFill>
                  <a:srgbClr val="1A1A1A"/>
                </a:solidFill>
                <a:latin typeface="Inter"/>
              </a:rPr>
              <a:t>+5 pp from 2026</a:t>
            </a:r>
          </a:p>
        </p:txBody>
      </p:sp>
      <p:sp>
        <p:nvSpPr>
          <p:cNvPr id="22" name="TextBox 21"/>
          <p:cNvSpPr txBox="1"/>
          <p:nvPr/>
        </p:nvSpPr>
        <p:spPr>
          <a:xfrm>
            <a:off x="6217920" y="3566160"/>
            <a:ext cx="2267712" cy="292608"/>
          </a:xfrm>
          <a:prstGeom prst="rect">
            <a:avLst/>
          </a:prstGeom>
          <a:noFill/>
        </p:spPr>
        <p:txBody>
          <a:bodyPr wrap="square">
            <a:spAutoFit/>
          </a:bodyPr>
          <a:lstStyle/>
          <a:p>
            <a:pPr algn="l"/>
            <a:r>
              <a:rPr sz="750" b="0" i="0">
                <a:solidFill>
                  <a:srgbClr val="8A8A8A"/>
                </a:solidFill>
                <a:latin typeface="Inter"/>
              </a:rPr>
              <a:t>Rate beginning to moderate</a:t>
            </a:r>
          </a:p>
        </p:txBody>
      </p:sp>
      <p:sp>
        <p:nvSpPr>
          <p:cNvPr id="23" name="Rectangle 22"/>
          <p:cNvSpPr/>
          <p:nvPr/>
        </p:nvSpPr>
        <p:spPr>
          <a:xfrm>
            <a:off x="8732520" y="1664208"/>
            <a:ext cx="2633472" cy="265176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0" y="1810512"/>
            <a:ext cx="9144000" cy="274320"/>
          </a:xfrm>
          <a:prstGeom prst="rect">
            <a:avLst/>
          </a:prstGeom>
          <a:noFill/>
        </p:spPr>
        <p:txBody>
          <a:bodyPr wrap="square">
            <a:spAutoFit/>
          </a:bodyPr>
          <a:lstStyle/>
          <a:p>
            <a:pPr algn="l"/>
            <a:r>
              <a:rPr sz="700" b="1" i="0">
                <a:solidFill>
                  <a:srgbClr val="8A8A8A"/>
                </a:solidFill>
                <a:latin typeface="Inter"/>
              </a:rPr>
              <a:t>2028</a:t>
            </a:r>
          </a:p>
        </p:txBody>
      </p:sp>
      <p:sp>
        <p:nvSpPr>
          <p:cNvPr id="25" name="TextBox 24"/>
          <p:cNvSpPr txBox="1"/>
          <p:nvPr/>
        </p:nvSpPr>
        <p:spPr>
          <a:xfrm>
            <a:off x="8961120" y="2084831"/>
            <a:ext cx="2267712" cy="1097280"/>
          </a:xfrm>
          <a:prstGeom prst="rect">
            <a:avLst/>
          </a:prstGeom>
          <a:noFill/>
        </p:spPr>
        <p:txBody>
          <a:bodyPr wrap="square">
            <a:spAutoFit/>
          </a:bodyPr>
          <a:lstStyle/>
          <a:p>
            <a:pPr algn="l"/>
            <a:r>
              <a:rPr sz="5200" b="0" i="0">
                <a:solidFill>
                  <a:srgbClr val="1A1A1A"/>
                </a:solidFill>
                <a:latin typeface="Inter"/>
              </a:rPr>
              <a:t>71%</a:t>
            </a:r>
          </a:p>
        </p:txBody>
      </p:sp>
      <p:cxnSp>
        <p:nvCxnSpPr>
          <p:cNvPr id="26" name="Connector 25"/>
          <p:cNvCxnSpPr/>
          <p:nvPr/>
        </p:nvCxnSpPr>
        <p:spPr>
          <a:xfrm>
            <a:off x="8961120" y="3163824"/>
            <a:ext cx="217627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961120" y="3255264"/>
            <a:ext cx="2267712" cy="292608"/>
          </a:xfrm>
          <a:prstGeom prst="rect">
            <a:avLst/>
          </a:prstGeom>
          <a:noFill/>
        </p:spPr>
        <p:txBody>
          <a:bodyPr wrap="square">
            <a:spAutoFit/>
          </a:bodyPr>
          <a:lstStyle/>
          <a:p>
            <a:pPr algn="l"/>
            <a:r>
              <a:rPr sz="850" b="0" i="0">
                <a:solidFill>
                  <a:srgbClr val="1A1A1A"/>
                </a:solidFill>
                <a:latin typeface="Inter"/>
              </a:rPr>
              <a:t>+4 pp from 2027</a:t>
            </a:r>
          </a:p>
        </p:txBody>
      </p:sp>
      <p:sp>
        <p:nvSpPr>
          <p:cNvPr id="28" name="TextBox 27"/>
          <p:cNvSpPr txBox="1"/>
          <p:nvPr/>
        </p:nvSpPr>
        <p:spPr>
          <a:xfrm>
            <a:off x="8961120" y="3566160"/>
            <a:ext cx="2267712" cy="292608"/>
          </a:xfrm>
          <a:prstGeom prst="rect">
            <a:avLst/>
          </a:prstGeom>
          <a:noFill/>
        </p:spPr>
        <p:txBody>
          <a:bodyPr wrap="square">
            <a:spAutoFit/>
          </a:bodyPr>
          <a:lstStyle/>
          <a:p>
            <a:pPr algn="l"/>
            <a:r>
              <a:rPr sz="750" b="0" i="0">
                <a:solidFill>
                  <a:srgbClr val="8A8A8A"/>
                </a:solidFill>
                <a:latin typeface="Inter"/>
              </a:rPr>
              <a:t>Near-saturation in leading sectors</a:t>
            </a:r>
          </a:p>
        </p:txBody>
      </p:sp>
      <p:sp>
        <p:nvSpPr>
          <p:cNvPr id="29" name="TextBox 28"/>
          <p:cNvSpPr txBox="1"/>
          <p:nvPr/>
        </p:nvSpPr>
        <p:spPr>
          <a:xfrm>
            <a:off x="502920" y="4572000"/>
            <a:ext cx="9144000" cy="274320"/>
          </a:xfrm>
          <a:prstGeom prst="rect">
            <a:avLst/>
          </a:prstGeom>
          <a:noFill/>
        </p:spPr>
        <p:txBody>
          <a:bodyPr wrap="square">
            <a:spAutoFit/>
          </a:bodyPr>
          <a:lstStyle/>
          <a:p>
            <a:pPr algn="l"/>
            <a:r>
              <a:rPr sz="700" b="1" i="0">
                <a:solidFill>
                  <a:srgbClr val="8A8A8A"/>
                </a:solidFill>
                <a:latin typeface="Inter"/>
              </a:rPr>
              <a:t>PROJECTED 2028 ADOPTION RATE BY INDUSTRY</a:t>
            </a:r>
          </a:p>
        </p:txBody>
      </p:sp>
      <p:cxnSp>
        <p:nvCxnSpPr>
          <p:cNvPr id="30" name="Connector 29"/>
          <p:cNvCxnSpPr/>
          <p:nvPr/>
        </p:nvCxnSpPr>
        <p:spPr>
          <a:xfrm>
            <a:off x="502920" y="4828032"/>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02920" y="4956048"/>
            <a:ext cx="1097280" cy="438912"/>
          </a:xfrm>
          <a:prstGeom prst="rect">
            <a:avLst/>
          </a:prstGeom>
          <a:noFill/>
        </p:spPr>
        <p:txBody>
          <a:bodyPr wrap="square">
            <a:spAutoFit/>
          </a:bodyPr>
          <a:lstStyle/>
          <a:p>
            <a:pPr algn="l"/>
            <a:r>
              <a:rPr sz="1400" b="0" i="0">
                <a:solidFill>
                  <a:srgbClr val="1A1A1A"/>
                </a:solidFill>
                <a:latin typeface="Inter"/>
              </a:rPr>
              <a:t>99%</a:t>
            </a:r>
          </a:p>
        </p:txBody>
      </p:sp>
      <p:sp>
        <p:nvSpPr>
          <p:cNvPr id="32" name="TextBox 31"/>
          <p:cNvSpPr txBox="1"/>
          <p:nvPr/>
        </p:nvSpPr>
        <p:spPr>
          <a:xfrm>
            <a:off x="502920" y="5394960"/>
            <a:ext cx="1097280" cy="365760"/>
          </a:xfrm>
          <a:prstGeom prst="rect">
            <a:avLst/>
          </a:prstGeom>
          <a:noFill/>
        </p:spPr>
        <p:txBody>
          <a:bodyPr wrap="square">
            <a:spAutoFit/>
          </a:bodyPr>
          <a:lstStyle/>
          <a:p>
            <a:pPr algn="l"/>
            <a:r>
              <a:rPr sz="700" b="0" i="0">
                <a:solidFill>
                  <a:srgbClr val="5A5A5A"/>
                </a:solidFill>
                <a:latin typeface="Inter"/>
              </a:rPr>
              <a:t>Technology</a:t>
            </a:r>
          </a:p>
        </p:txBody>
      </p:sp>
      <p:cxnSp>
        <p:nvCxnSpPr>
          <p:cNvPr id="33" name="Connector 32"/>
          <p:cNvCxnSpPr/>
          <p:nvPr/>
        </p:nvCxnSpPr>
        <p:spPr>
          <a:xfrm>
            <a:off x="502920" y="5806440"/>
            <a:ext cx="1060704"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618488" y="4956048"/>
            <a:ext cx="1097280" cy="438912"/>
          </a:xfrm>
          <a:prstGeom prst="rect">
            <a:avLst/>
          </a:prstGeom>
          <a:noFill/>
        </p:spPr>
        <p:txBody>
          <a:bodyPr wrap="square">
            <a:spAutoFit/>
          </a:bodyPr>
          <a:lstStyle/>
          <a:p>
            <a:pPr algn="l"/>
            <a:r>
              <a:rPr sz="1400" b="0" i="0">
                <a:solidFill>
                  <a:srgbClr val="1A1A1A"/>
                </a:solidFill>
                <a:latin typeface="Inter"/>
              </a:rPr>
              <a:t>91%</a:t>
            </a:r>
          </a:p>
        </p:txBody>
      </p:sp>
      <p:sp>
        <p:nvSpPr>
          <p:cNvPr id="35" name="TextBox 34"/>
          <p:cNvSpPr txBox="1"/>
          <p:nvPr/>
        </p:nvSpPr>
        <p:spPr>
          <a:xfrm>
            <a:off x="1618488" y="5394960"/>
            <a:ext cx="1097280" cy="365760"/>
          </a:xfrm>
          <a:prstGeom prst="rect">
            <a:avLst/>
          </a:prstGeom>
          <a:noFill/>
        </p:spPr>
        <p:txBody>
          <a:bodyPr wrap="square">
            <a:spAutoFit/>
          </a:bodyPr>
          <a:lstStyle/>
          <a:p>
            <a:pPr algn="l"/>
            <a:r>
              <a:rPr sz="700" b="0" i="0">
                <a:solidFill>
                  <a:srgbClr val="5A5A5A"/>
                </a:solidFill>
                <a:latin typeface="Inter"/>
              </a:rPr>
              <a:t>Finance</a:t>
            </a:r>
          </a:p>
        </p:txBody>
      </p:sp>
      <p:cxnSp>
        <p:nvCxnSpPr>
          <p:cNvPr id="36" name="Connector 35"/>
          <p:cNvCxnSpPr/>
          <p:nvPr/>
        </p:nvCxnSpPr>
        <p:spPr>
          <a:xfrm>
            <a:off x="1618488" y="5806440"/>
            <a:ext cx="1060704"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734056" y="4956048"/>
            <a:ext cx="1097280" cy="438912"/>
          </a:xfrm>
          <a:prstGeom prst="rect">
            <a:avLst/>
          </a:prstGeom>
          <a:noFill/>
        </p:spPr>
        <p:txBody>
          <a:bodyPr wrap="square">
            <a:spAutoFit/>
          </a:bodyPr>
          <a:lstStyle/>
          <a:p>
            <a:pPr algn="l"/>
            <a:r>
              <a:rPr sz="1400" b="0" i="0">
                <a:solidFill>
                  <a:srgbClr val="1A1A1A"/>
                </a:solidFill>
                <a:latin typeface="Inter"/>
              </a:rPr>
              <a:t>78%</a:t>
            </a:r>
          </a:p>
        </p:txBody>
      </p:sp>
      <p:sp>
        <p:nvSpPr>
          <p:cNvPr id="38" name="TextBox 37"/>
          <p:cNvSpPr txBox="1"/>
          <p:nvPr/>
        </p:nvSpPr>
        <p:spPr>
          <a:xfrm>
            <a:off x="2734056" y="5394960"/>
            <a:ext cx="1097280" cy="365760"/>
          </a:xfrm>
          <a:prstGeom prst="rect">
            <a:avLst/>
          </a:prstGeom>
          <a:noFill/>
        </p:spPr>
        <p:txBody>
          <a:bodyPr wrap="square">
            <a:spAutoFit/>
          </a:bodyPr>
          <a:lstStyle/>
          <a:p>
            <a:pPr algn="l"/>
            <a:r>
              <a:rPr sz="700" b="0" i="0">
                <a:solidFill>
                  <a:srgbClr val="5A5A5A"/>
                </a:solidFill>
                <a:latin typeface="Inter"/>
              </a:rPr>
              <a:t>Healthcare</a:t>
            </a:r>
          </a:p>
        </p:txBody>
      </p:sp>
      <p:cxnSp>
        <p:nvCxnSpPr>
          <p:cNvPr id="39" name="Connector 38"/>
          <p:cNvCxnSpPr/>
          <p:nvPr/>
        </p:nvCxnSpPr>
        <p:spPr>
          <a:xfrm>
            <a:off x="2734056" y="5806440"/>
            <a:ext cx="1060704"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3849624" y="4956048"/>
            <a:ext cx="1097280" cy="438912"/>
          </a:xfrm>
          <a:prstGeom prst="rect">
            <a:avLst/>
          </a:prstGeom>
          <a:noFill/>
        </p:spPr>
        <p:txBody>
          <a:bodyPr wrap="square">
            <a:spAutoFit/>
          </a:bodyPr>
          <a:lstStyle/>
          <a:p>
            <a:pPr algn="l"/>
            <a:r>
              <a:rPr sz="1400" b="0" i="0">
                <a:solidFill>
                  <a:srgbClr val="1A1A1A"/>
                </a:solidFill>
                <a:latin typeface="Inter"/>
              </a:rPr>
              <a:t>72%</a:t>
            </a:r>
          </a:p>
        </p:txBody>
      </p:sp>
      <p:sp>
        <p:nvSpPr>
          <p:cNvPr id="41" name="TextBox 40"/>
          <p:cNvSpPr txBox="1"/>
          <p:nvPr/>
        </p:nvSpPr>
        <p:spPr>
          <a:xfrm>
            <a:off x="3849624" y="5394960"/>
            <a:ext cx="1097280" cy="365760"/>
          </a:xfrm>
          <a:prstGeom prst="rect">
            <a:avLst/>
          </a:prstGeom>
          <a:noFill/>
        </p:spPr>
        <p:txBody>
          <a:bodyPr wrap="square">
            <a:spAutoFit/>
          </a:bodyPr>
          <a:lstStyle/>
          <a:p>
            <a:pPr algn="l"/>
            <a:r>
              <a:rPr sz="700" b="0" i="0">
                <a:solidFill>
                  <a:srgbClr val="5A5A5A"/>
                </a:solidFill>
                <a:latin typeface="Inter"/>
              </a:rPr>
              <a:t>Prof. Services</a:t>
            </a:r>
          </a:p>
        </p:txBody>
      </p:sp>
      <p:cxnSp>
        <p:nvCxnSpPr>
          <p:cNvPr id="42" name="Connector 41"/>
          <p:cNvCxnSpPr/>
          <p:nvPr/>
        </p:nvCxnSpPr>
        <p:spPr>
          <a:xfrm>
            <a:off x="3849624" y="5806440"/>
            <a:ext cx="1060704"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965192" y="4956048"/>
            <a:ext cx="1097280" cy="438912"/>
          </a:xfrm>
          <a:prstGeom prst="rect">
            <a:avLst/>
          </a:prstGeom>
          <a:noFill/>
        </p:spPr>
        <p:txBody>
          <a:bodyPr wrap="square">
            <a:spAutoFit/>
          </a:bodyPr>
          <a:lstStyle/>
          <a:p>
            <a:pPr algn="l"/>
            <a:r>
              <a:rPr sz="1400" b="0" i="0">
                <a:solidFill>
                  <a:srgbClr val="1A1A1A"/>
                </a:solidFill>
                <a:latin typeface="Inter"/>
              </a:rPr>
              <a:t>68%</a:t>
            </a:r>
          </a:p>
        </p:txBody>
      </p:sp>
      <p:sp>
        <p:nvSpPr>
          <p:cNvPr id="44" name="TextBox 43"/>
          <p:cNvSpPr txBox="1"/>
          <p:nvPr/>
        </p:nvSpPr>
        <p:spPr>
          <a:xfrm>
            <a:off x="4965192" y="5394960"/>
            <a:ext cx="1097280" cy="365760"/>
          </a:xfrm>
          <a:prstGeom prst="rect">
            <a:avLst/>
          </a:prstGeom>
          <a:noFill/>
        </p:spPr>
        <p:txBody>
          <a:bodyPr wrap="square">
            <a:spAutoFit/>
          </a:bodyPr>
          <a:lstStyle/>
          <a:p>
            <a:pPr algn="l"/>
            <a:r>
              <a:rPr sz="700" b="0" i="0">
                <a:solidFill>
                  <a:srgbClr val="5A5A5A"/>
                </a:solidFill>
                <a:latin typeface="Inter"/>
              </a:rPr>
              <a:t>Retail</a:t>
            </a:r>
          </a:p>
        </p:txBody>
      </p:sp>
      <p:cxnSp>
        <p:nvCxnSpPr>
          <p:cNvPr id="45" name="Connector 44"/>
          <p:cNvCxnSpPr/>
          <p:nvPr/>
        </p:nvCxnSpPr>
        <p:spPr>
          <a:xfrm>
            <a:off x="4965192" y="5806440"/>
            <a:ext cx="1060704"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080760" y="4956048"/>
            <a:ext cx="1097280" cy="438912"/>
          </a:xfrm>
          <a:prstGeom prst="rect">
            <a:avLst/>
          </a:prstGeom>
          <a:noFill/>
        </p:spPr>
        <p:txBody>
          <a:bodyPr wrap="square">
            <a:spAutoFit/>
          </a:bodyPr>
          <a:lstStyle/>
          <a:p>
            <a:pPr algn="l"/>
            <a:r>
              <a:rPr sz="1400" b="0" i="0">
                <a:solidFill>
                  <a:srgbClr val="1A1A1A"/>
                </a:solidFill>
                <a:latin typeface="Inter"/>
              </a:rPr>
              <a:t>61%</a:t>
            </a:r>
          </a:p>
        </p:txBody>
      </p:sp>
      <p:sp>
        <p:nvSpPr>
          <p:cNvPr id="47" name="TextBox 46"/>
          <p:cNvSpPr txBox="1"/>
          <p:nvPr/>
        </p:nvSpPr>
        <p:spPr>
          <a:xfrm>
            <a:off x="6080760" y="5394960"/>
            <a:ext cx="1097280" cy="365760"/>
          </a:xfrm>
          <a:prstGeom prst="rect">
            <a:avLst/>
          </a:prstGeom>
          <a:noFill/>
        </p:spPr>
        <p:txBody>
          <a:bodyPr wrap="square">
            <a:spAutoFit/>
          </a:bodyPr>
          <a:lstStyle/>
          <a:p>
            <a:pPr algn="l"/>
            <a:r>
              <a:rPr sz="700" b="0" i="0">
                <a:solidFill>
                  <a:srgbClr val="5A5A5A"/>
                </a:solidFill>
                <a:latin typeface="Inter"/>
              </a:rPr>
              <a:t>Manufacturing</a:t>
            </a:r>
          </a:p>
        </p:txBody>
      </p:sp>
      <p:cxnSp>
        <p:nvCxnSpPr>
          <p:cNvPr id="48" name="Connector 47"/>
          <p:cNvCxnSpPr/>
          <p:nvPr/>
        </p:nvCxnSpPr>
        <p:spPr>
          <a:xfrm>
            <a:off x="6080760" y="5806440"/>
            <a:ext cx="1060704"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7196328" y="4956048"/>
            <a:ext cx="1097280" cy="438912"/>
          </a:xfrm>
          <a:prstGeom prst="rect">
            <a:avLst/>
          </a:prstGeom>
          <a:noFill/>
        </p:spPr>
        <p:txBody>
          <a:bodyPr wrap="square">
            <a:spAutoFit/>
          </a:bodyPr>
          <a:lstStyle/>
          <a:p>
            <a:pPr algn="l"/>
            <a:r>
              <a:rPr sz="1400" b="0" i="0">
                <a:solidFill>
                  <a:srgbClr val="1A1A1A"/>
                </a:solidFill>
                <a:latin typeface="Inter"/>
              </a:rPr>
              <a:t>54%</a:t>
            </a:r>
          </a:p>
        </p:txBody>
      </p:sp>
      <p:sp>
        <p:nvSpPr>
          <p:cNvPr id="50" name="TextBox 49"/>
          <p:cNvSpPr txBox="1"/>
          <p:nvPr/>
        </p:nvSpPr>
        <p:spPr>
          <a:xfrm>
            <a:off x="7196328" y="5394960"/>
            <a:ext cx="1097280" cy="365760"/>
          </a:xfrm>
          <a:prstGeom prst="rect">
            <a:avLst/>
          </a:prstGeom>
          <a:noFill/>
        </p:spPr>
        <p:txBody>
          <a:bodyPr wrap="square">
            <a:spAutoFit/>
          </a:bodyPr>
          <a:lstStyle/>
          <a:p>
            <a:pPr algn="l"/>
            <a:r>
              <a:rPr sz="700" b="0" i="0">
                <a:solidFill>
                  <a:srgbClr val="5A5A5A"/>
                </a:solidFill>
                <a:latin typeface="Inter"/>
              </a:rPr>
              <a:t>Education</a:t>
            </a:r>
          </a:p>
        </p:txBody>
      </p:sp>
      <p:cxnSp>
        <p:nvCxnSpPr>
          <p:cNvPr id="51" name="Connector 50"/>
          <p:cNvCxnSpPr/>
          <p:nvPr/>
        </p:nvCxnSpPr>
        <p:spPr>
          <a:xfrm>
            <a:off x="7196328" y="5806440"/>
            <a:ext cx="1060704"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8311896" y="4956048"/>
            <a:ext cx="1097280" cy="438912"/>
          </a:xfrm>
          <a:prstGeom prst="rect">
            <a:avLst/>
          </a:prstGeom>
          <a:noFill/>
        </p:spPr>
        <p:txBody>
          <a:bodyPr wrap="square">
            <a:spAutoFit/>
          </a:bodyPr>
          <a:lstStyle/>
          <a:p>
            <a:pPr algn="l"/>
            <a:r>
              <a:rPr sz="1400" b="0" i="0">
                <a:solidFill>
                  <a:srgbClr val="1A1A1A"/>
                </a:solidFill>
                <a:latin typeface="Inter"/>
              </a:rPr>
              <a:t>41%</a:t>
            </a:r>
          </a:p>
        </p:txBody>
      </p:sp>
      <p:sp>
        <p:nvSpPr>
          <p:cNvPr id="53" name="TextBox 52"/>
          <p:cNvSpPr txBox="1"/>
          <p:nvPr/>
        </p:nvSpPr>
        <p:spPr>
          <a:xfrm>
            <a:off x="8311896" y="5394960"/>
            <a:ext cx="1097280" cy="365760"/>
          </a:xfrm>
          <a:prstGeom prst="rect">
            <a:avLst/>
          </a:prstGeom>
          <a:noFill/>
        </p:spPr>
        <p:txBody>
          <a:bodyPr wrap="square">
            <a:spAutoFit/>
          </a:bodyPr>
          <a:lstStyle/>
          <a:p>
            <a:pPr algn="l"/>
            <a:r>
              <a:rPr sz="700" b="0" i="0">
                <a:solidFill>
                  <a:srgbClr val="5A5A5A"/>
                </a:solidFill>
                <a:latin typeface="Inter"/>
              </a:rPr>
              <a:t>Hospitality</a:t>
            </a:r>
          </a:p>
        </p:txBody>
      </p:sp>
      <p:cxnSp>
        <p:nvCxnSpPr>
          <p:cNvPr id="54" name="Connector 53"/>
          <p:cNvCxnSpPr/>
          <p:nvPr/>
        </p:nvCxnSpPr>
        <p:spPr>
          <a:xfrm>
            <a:off x="8311896" y="5806440"/>
            <a:ext cx="1060704"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427464" y="4956048"/>
            <a:ext cx="1097280" cy="438912"/>
          </a:xfrm>
          <a:prstGeom prst="rect">
            <a:avLst/>
          </a:prstGeom>
          <a:noFill/>
        </p:spPr>
        <p:txBody>
          <a:bodyPr wrap="square">
            <a:spAutoFit/>
          </a:bodyPr>
          <a:lstStyle/>
          <a:p>
            <a:pPr algn="l"/>
            <a:r>
              <a:rPr sz="1400" b="0" i="0">
                <a:solidFill>
                  <a:srgbClr val="1A1A1A"/>
                </a:solidFill>
                <a:latin typeface="Inter"/>
              </a:rPr>
              <a:t>29%</a:t>
            </a:r>
          </a:p>
        </p:txBody>
      </p:sp>
      <p:sp>
        <p:nvSpPr>
          <p:cNvPr id="56" name="TextBox 55"/>
          <p:cNvSpPr txBox="1"/>
          <p:nvPr/>
        </p:nvSpPr>
        <p:spPr>
          <a:xfrm>
            <a:off x="9427464" y="5394960"/>
            <a:ext cx="1097280" cy="365760"/>
          </a:xfrm>
          <a:prstGeom prst="rect">
            <a:avLst/>
          </a:prstGeom>
          <a:noFill/>
        </p:spPr>
        <p:txBody>
          <a:bodyPr wrap="square">
            <a:spAutoFit/>
          </a:bodyPr>
          <a:lstStyle/>
          <a:p>
            <a:pPr algn="l"/>
            <a:r>
              <a:rPr sz="700" b="0" i="0">
                <a:solidFill>
                  <a:srgbClr val="5A5A5A"/>
                </a:solidFill>
                <a:latin typeface="Inter"/>
              </a:rPr>
              <a:t>Construction</a:t>
            </a:r>
          </a:p>
        </p:txBody>
      </p:sp>
      <p:cxnSp>
        <p:nvCxnSpPr>
          <p:cNvPr id="57" name="Connector 56"/>
          <p:cNvCxnSpPr/>
          <p:nvPr/>
        </p:nvCxnSpPr>
        <p:spPr>
          <a:xfrm>
            <a:off x="9427464" y="5806440"/>
            <a:ext cx="1060704"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0543032" y="4956048"/>
            <a:ext cx="1097280" cy="438912"/>
          </a:xfrm>
          <a:prstGeom prst="rect">
            <a:avLst/>
          </a:prstGeom>
          <a:noFill/>
        </p:spPr>
        <p:txBody>
          <a:bodyPr wrap="square">
            <a:spAutoFit/>
          </a:bodyPr>
          <a:lstStyle/>
          <a:p>
            <a:pPr algn="l"/>
            <a:r>
              <a:rPr sz="1400" b="0" i="0">
                <a:solidFill>
                  <a:srgbClr val="1A1A1A"/>
                </a:solidFill>
                <a:latin typeface="Inter"/>
              </a:rPr>
              <a:t>22%</a:t>
            </a:r>
          </a:p>
        </p:txBody>
      </p:sp>
      <p:sp>
        <p:nvSpPr>
          <p:cNvPr id="59" name="TextBox 58"/>
          <p:cNvSpPr txBox="1"/>
          <p:nvPr/>
        </p:nvSpPr>
        <p:spPr>
          <a:xfrm>
            <a:off x="10543032" y="5394960"/>
            <a:ext cx="1097280" cy="365760"/>
          </a:xfrm>
          <a:prstGeom prst="rect">
            <a:avLst/>
          </a:prstGeom>
          <a:noFill/>
        </p:spPr>
        <p:txBody>
          <a:bodyPr wrap="square">
            <a:spAutoFit/>
          </a:bodyPr>
          <a:lstStyle/>
          <a:p>
            <a:pPr algn="l"/>
            <a:r>
              <a:rPr sz="700" b="0" i="0">
                <a:solidFill>
                  <a:srgbClr val="5A5A5A"/>
                </a:solidFill>
                <a:latin typeface="Inter"/>
              </a:rPr>
              <a:t>Agriculture</a:t>
            </a:r>
          </a:p>
        </p:txBody>
      </p:sp>
      <p:cxnSp>
        <p:nvCxnSpPr>
          <p:cNvPr id="60" name="Connector 59"/>
          <p:cNvCxnSpPr/>
          <p:nvPr/>
        </p:nvCxnSpPr>
        <p:spPr>
          <a:xfrm>
            <a:off x="10543032" y="5806440"/>
            <a:ext cx="1060704"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62" name="TextBox 61"/>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14 / 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GENAI — AI ADVISOR CHATBOT</a:t>
            </a:r>
          </a:p>
        </p:txBody>
      </p:sp>
      <p:sp>
        <p:nvSpPr>
          <p:cNvPr id="3" name="TextBox 2"/>
          <p:cNvSpPr txBox="1"/>
          <p:nvPr/>
        </p:nvSpPr>
        <p:spPr>
          <a:xfrm>
            <a:off x="502920" y="777240"/>
            <a:ext cx="9144000" cy="640080"/>
          </a:xfrm>
          <a:prstGeom prst="rect">
            <a:avLst/>
          </a:prstGeom>
          <a:noFill/>
        </p:spPr>
        <p:txBody>
          <a:bodyPr wrap="square">
            <a:spAutoFit/>
          </a:bodyPr>
          <a:lstStyle/>
          <a:p>
            <a:pPr algn="l"/>
            <a:r>
              <a:rPr sz="2800" b="0" i="0">
                <a:solidFill>
                  <a:srgbClr val="1A1A1A"/>
                </a:solidFill>
                <a:latin typeface="Inter"/>
              </a:rPr>
              <a:t>Personalized AI readiness scoring and roadmap generation</a:t>
            </a:r>
          </a:p>
        </p:txBody>
      </p:sp>
      <p:cxnSp>
        <p:nvCxnSpPr>
          <p:cNvPr id="4" name="Connector 3"/>
          <p:cNvCxnSpPr/>
          <p:nvPr/>
        </p:nvCxnSpPr>
        <p:spPr>
          <a:xfrm>
            <a:off x="502920" y="1481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1719072"/>
            <a:ext cx="5486400" cy="1097280"/>
          </a:xfrm>
          <a:prstGeom prst="rect">
            <a:avLst/>
          </a:prstGeom>
          <a:noFill/>
        </p:spPr>
        <p:txBody>
          <a:bodyPr wrap="square">
            <a:spAutoFit/>
          </a:bodyPr>
          <a:lstStyle/>
          <a:p>
            <a:pPr algn="l"/>
            <a:r>
              <a:rPr sz="1000" b="0" i="0">
                <a:solidFill>
                  <a:srgbClr val="5A5A5A"/>
                </a:solidFill>
                <a:latin typeface="Inter"/>
              </a:rPr>
              <a:t>The advisor calculates an AI Readiness Score (0–100) across six weighted dimensions and generates a personalized 30/60/90-day implementation roadmap with industry-specific tool recommendations — powered by Anthropic Claude API with a RAG knowledge base of 10 industry profiles.</a:t>
            </a:r>
          </a:p>
        </p:txBody>
      </p:sp>
      <p:sp>
        <p:nvSpPr>
          <p:cNvPr id="6" name="TextBox 5"/>
          <p:cNvSpPr txBox="1"/>
          <p:nvPr/>
        </p:nvSpPr>
        <p:spPr>
          <a:xfrm>
            <a:off x="502920" y="2944368"/>
            <a:ext cx="9144000" cy="274320"/>
          </a:xfrm>
          <a:prstGeom prst="rect">
            <a:avLst/>
          </a:prstGeom>
          <a:noFill/>
        </p:spPr>
        <p:txBody>
          <a:bodyPr wrap="square">
            <a:spAutoFit/>
          </a:bodyPr>
          <a:lstStyle/>
          <a:p>
            <a:pPr algn="l"/>
            <a:r>
              <a:rPr sz="700" b="1" i="0">
                <a:solidFill>
                  <a:srgbClr val="8A8A8A"/>
                </a:solidFill>
                <a:latin typeface="Inter"/>
              </a:rPr>
              <a:t>SCORE DIMENSIONS &amp; WEIGHTS</a:t>
            </a:r>
          </a:p>
        </p:txBody>
      </p:sp>
      <p:cxnSp>
        <p:nvCxnSpPr>
          <p:cNvPr id="7" name="Connector 6"/>
          <p:cNvCxnSpPr/>
          <p:nvPr/>
        </p:nvCxnSpPr>
        <p:spPr>
          <a:xfrm>
            <a:off x="502920" y="3246120"/>
            <a:ext cx="530352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3300984"/>
            <a:ext cx="3840480" cy="347472"/>
          </a:xfrm>
          <a:prstGeom prst="rect">
            <a:avLst/>
          </a:prstGeom>
          <a:noFill/>
        </p:spPr>
        <p:txBody>
          <a:bodyPr wrap="square">
            <a:spAutoFit/>
          </a:bodyPr>
          <a:lstStyle/>
          <a:p>
            <a:pPr algn="l"/>
            <a:r>
              <a:rPr sz="900" b="0" i="0">
                <a:solidFill>
                  <a:srgbClr val="1A1A1A"/>
                </a:solidFill>
                <a:latin typeface="Inter"/>
              </a:rPr>
              <a:t>Digital maturity score</a:t>
            </a:r>
          </a:p>
        </p:txBody>
      </p:sp>
      <p:sp>
        <p:nvSpPr>
          <p:cNvPr id="9" name="TextBox 8"/>
          <p:cNvSpPr txBox="1"/>
          <p:nvPr/>
        </p:nvSpPr>
        <p:spPr>
          <a:xfrm>
            <a:off x="4389120" y="3300984"/>
            <a:ext cx="1371600" cy="347472"/>
          </a:xfrm>
          <a:prstGeom prst="rect">
            <a:avLst/>
          </a:prstGeom>
          <a:noFill/>
        </p:spPr>
        <p:txBody>
          <a:bodyPr wrap="square">
            <a:spAutoFit/>
          </a:bodyPr>
          <a:lstStyle/>
          <a:p>
            <a:pPr algn="r"/>
            <a:r>
              <a:rPr sz="900" b="0" i="0">
                <a:solidFill>
                  <a:srgbClr val="8A8A8A"/>
                </a:solidFill>
                <a:latin typeface="Inter"/>
              </a:rPr>
              <a:t>28%</a:t>
            </a:r>
          </a:p>
        </p:txBody>
      </p:sp>
      <p:cxnSp>
        <p:nvCxnSpPr>
          <p:cNvPr id="10" name="Connector 9"/>
          <p:cNvCxnSpPr/>
          <p:nvPr/>
        </p:nvCxnSpPr>
        <p:spPr>
          <a:xfrm>
            <a:off x="502920" y="3703320"/>
            <a:ext cx="530352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2920" y="3758184"/>
            <a:ext cx="3840480" cy="347472"/>
          </a:xfrm>
          <a:prstGeom prst="rect">
            <a:avLst/>
          </a:prstGeom>
          <a:noFill/>
        </p:spPr>
        <p:txBody>
          <a:bodyPr wrap="square">
            <a:spAutoFit/>
          </a:bodyPr>
          <a:lstStyle/>
          <a:p>
            <a:pPr algn="l"/>
            <a:r>
              <a:rPr sz="900" b="0" i="0">
                <a:solidFill>
                  <a:srgbClr val="1A1A1A"/>
                </a:solidFill>
                <a:latin typeface="Inter"/>
              </a:rPr>
              <a:t>Cloud infrastructure</a:t>
            </a:r>
          </a:p>
        </p:txBody>
      </p:sp>
      <p:sp>
        <p:nvSpPr>
          <p:cNvPr id="12" name="TextBox 11"/>
          <p:cNvSpPr txBox="1"/>
          <p:nvPr/>
        </p:nvSpPr>
        <p:spPr>
          <a:xfrm>
            <a:off x="4389120" y="3758184"/>
            <a:ext cx="1371600" cy="347472"/>
          </a:xfrm>
          <a:prstGeom prst="rect">
            <a:avLst/>
          </a:prstGeom>
          <a:noFill/>
        </p:spPr>
        <p:txBody>
          <a:bodyPr wrap="square">
            <a:spAutoFit/>
          </a:bodyPr>
          <a:lstStyle/>
          <a:p>
            <a:pPr algn="r"/>
            <a:r>
              <a:rPr sz="900" b="0" i="0">
                <a:solidFill>
                  <a:srgbClr val="8A8A8A"/>
                </a:solidFill>
                <a:latin typeface="Inter"/>
              </a:rPr>
              <a:t>22%</a:t>
            </a:r>
          </a:p>
        </p:txBody>
      </p:sp>
      <p:cxnSp>
        <p:nvCxnSpPr>
          <p:cNvPr id="13" name="Connector 12"/>
          <p:cNvCxnSpPr/>
          <p:nvPr/>
        </p:nvCxnSpPr>
        <p:spPr>
          <a:xfrm>
            <a:off x="502920" y="4160520"/>
            <a:ext cx="530352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 y="4215384"/>
            <a:ext cx="3840480" cy="347472"/>
          </a:xfrm>
          <a:prstGeom prst="rect">
            <a:avLst/>
          </a:prstGeom>
          <a:noFill/>
        </p:spPr>
        <p:txBody>
          <a:bodyPr wrap="square">
            <a:spAutoFit/>
          </a:bodyPr>
          <a:lstStyle/>
          <a:p>
            <a:pPr algn="l"/>
            <a:r>
              <a:rPr sz="900" b="0" i="0">
                <a:solidFill>
                  <a:srgbClr val="1A1A1A"/>
                </a:solidFill>
                <a:latin typeface="Inter"/>
              </a:rPr>
              <a:t>Technology investment</a:t>
            </a:r>
          </a:p>
        </p:txBody>
      </p:sp>
      <p:sp>
        <p:nvSpPr>
          <p:cNvPr id="15" name="TextBox 14"/>
          <p:cNvSpPr txBox="1"/>
          <p:nvPr/>
        </p:nvSpPr>
        <p:spPr>
          <a:xfrm>
            <a:off x="4389120" y="4215384"/>
            <a:ext cx="1371600" cy="347472"/>
          </a:xfrm>
          <a:prstGeom prst="rect">
            <a:avLst/>
          </a:prstGeom>
          <a:noFill/>
        </p:spPr>
        <p:txBody>
          <a:bodyPr wrap="square">
            <a:spAutoFit/>
          </a:bodyPr>
          <a:lstStyle/>
          <a:p>
            <a:pPr algn="r"/>
            <a:r>
              <a:rPr sz="900" b="0" i="0">
                <a:solidFill>
                  <a:srgbClr val="8A8A8A"/>
                </a:solidFill>
                <a:latin typeface="Inter"/>
              </a:rPr>
              <a:t>18%</a:t>
            </a:r>
          </a:p>
        </p:txBody>
      </p:sp>
      <p:cxnSp>
        <p:nvCxnSpPr>
          <p:cNvPr id="16" name="Connector 15"/>
          <p:cNvCxnSpPr/>
          <p:nvPr/>
        </p:nvCxnSpPr>
        <p:spPr>
          <a:xfrm>
            <a:off x="502920" y="4617720"/>
            <a:ext cx="530352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4672584"/>
            <a:ext cx="3840480" cy="347472"/>
          </a:xfrm>
          <a:prstGeom prst="rect">
            <a:avLst/>
          </a:prstGeom>
          <a:noFill/>
        </p:spPr>
        <p:txBody>
          <a:bodyPr wrap="square">
            <a:spAutoFit/>
          </a:bodyPr>
          <a:lstStyle/>
          <a:p>
            <a:pPr algn="l"/>
            <a:r>
              <a:rPr sz="900" b="0" i="0">
                <a:solidFill>
                  <a:srgbClr val="1A1A1A"/>
                </a:solidFill>
                <a:latin typeface="Inter"/>
              </a:rPr>
              <a:t>Data strategy</a:t>
            </a:r>
          </a:p>
        </p:txBody>
      </p:sp>
      <p:sp>
        <p:nvSpPr>
          <p:cNvPr id="18" name="TextBox 17"/>
          <p:cNvSpPr txBox="1"/>
          <p:nvPr/>
        </p:nvSpPr>
        <p:spPr>
          <a:xfrm>
            <a:off x="4389120" y="4672584"/>
            <a:ext cx="1371600" cy="347472"/>
          </a:xfrm>
          <a:prstGeom prst="rect">
            <a:avLst/>
          </a:prstGeom>
          <a:noFill/>
        </p:spPr>
        <p:txBody>
          <a:bodyPr wrap="square">
            <a:spAutoFit/>
          </a:bodyPr>
          <a:lstStyle/>
          <a:p>
            <a:pPr algn="r"/>
            <a:r>
              <a:rPr sz="900" b="0" i="0">
                <a:solidFill>
                  <a:srgbClr val="8A8A8A"/>
                </a:solidFill>
                <a:latin typeface="Inter"/>
              </a:rPr>
              <a:t>14%</a:t>
            </a:r>
          </a:p>
        </p:txBody>
      </p:sp>
      <p:cxnSp>
        <p:nvCxnSpPr>
          <p:cNvPr id="19" name="Connector 18"/>
          <p:cNvCxnSpPr/>
          <p:nvPr/>
        </p:nvCxnSpPr>
        <p:spPr>
          <a:xfrm>
            <a:off x="502920" y="5074920"/>
            <a:ext cx="530352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2920" y="5129784"/>
            <a:ext cx="3840480" cy="347472"/>
          </a:xfrm>
          <a:prstGeom prst="rect">
            <a:avLst/>
          </a:prstGeom>
          <a:noFill/>
        </p:spPr>
        <p:txBody>
          <a:bodyPr wrap="square">
            <a:spAutoFit/>
          </a:bodyPr>
          <a:lstStyle/>
          <a:p>
            <a:pPr algn="l"/>
            <a:r>
              <a:rPr sz="900" b="0" i="0">
                <a:solidFill>
                  <a:srgbClr val="1A1A1A"/>
                </a:solidFill>
                <a:latin typeface="Inter"/>
              </a:rPr>
              <a:t>Leadership profile</a:t>
            </a:r>
          </a:p>
        </p:txBody>
      </p:sp>
      <p:sp>
        <p:nvSpPr>
          <p:cNvPr id="21" name="TextBox 20"/>
          <p:cNvSpPr txBox="1"/>
          <p:nvPr/>
        </p:nvSpPr>
        <p:spPr>
          <a:xfrm>
            <a:off x="4389120" y="5129784"/>
            <a:ext cx="1371600" cy="347472"/>
          </a:xfrm>
          <a:prstGeom prst="rect">
            <a:avLst/>
          </a:prstGeom>
          <a:noFill/>
        </p:spPr>
        <p:txBody>
          <a:bodyPr wrap="square">
            <a:spAutoFit/>
          </a:bodyPr>
          <a:lstStyle/>
          <a:p>
            <a:pPr algn="r"/>
            <a:r>
              <a:rPr sz="900" b="0" i="0">
                <a:solidFill>
                  <a:srgbClr val="8A8A8A"/>
                </a:solidFill>
                <a:latin typeface="Inter"/>
              </a:rPr>
              <a:t>09%</a:t>
            </a:r>
          </a:p>
        </p:txBody>
      </p:sp>
      <p:cxnSp>
        <p:nvCxnSpPr>
          <p:cNvPr id="22" name="Connector 21"/>
          <p:cNvCxnSpPr/>
          <p:nvPr/>
        </p:nvCxnSpPr>
        <p:spPr>
          <a:xfrm>
            <a:off x="502920" y="5532120"/>
            <a:ext cx="530352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2920" y="5586984"/>
            <a:ext cx="3840480" cy="347472"/>
          </a:xfrm>
          <a:prstGeom prst="rect">
            <a:avLst/>
          </a:prstGeom>
          <a:noFill/>
        </p:spPr>
        <p:txBody>
          <a:bodyPr wrap="square">
            <a:spAutoFit/>
          </a:bodyPr>
          <a:lstStyle/>
          <a:p>
            <a:pPr algn="l"/>
            <a:r>
              <a:rPr sz="900" b="0" i="0">
                <a:solidFill>
                  <a:srgbClr val="1A1A1A"/>
                </a:solidFill>
                <a:latin typeface="Inter"/>
              </a:rPr>
              <a:t>Company scale</a:t>
            </a:r>
          </a:p>
        </p:txBody>
      </p:sp>
      <p:sp>
        <p:nvSpPr>
          <p:cNvPr id="24" name="TextBox 23"/>
          <p:cNvSpPr txBox="1"/>
          <p:nvPr/>
        </p:nvSpPr>
        <p:spPr>
          <a:xfrm>
            <a:off x="4389120" y="5586984"/>
            <a:ext cx="1371600" cy="347472"/>
          </a:xfrm>
          <a:prstGeom prst="rect">
            <a:avLst/>
          </a:prstGeom>
          <a:noFill/>
        </p:spPr>
        <p:txBody>
          <a:bodyPr wrap="square">
            <a:spAutoFit/>
          </a:bodyPr>
          <a:lstStyle/>
          <a:p>
            <a:pPr algn="r"/>
            <a:r>
              <a:rPr sz="900" b="0" i="0">
                <a:solidFill>
                  <a:srgbClr val="8A8A8A"/>
                </a:solidFill>
                <a:latin typeface="Inter"/>
              </a:rPr>
              <a:t>09%</a:t>
            </a:r>
          </a:p>
        </p:txBody>
      </p:sp>
      <p:cxnSp>
        <p:nvCxnSpPr>
          <p:cNvPr id="25" name="Connector 24"/>
          <p:cNvCxnSpPr/>
          <p:nvPr/>
        </p:nvCxnSpPr>
        <p:spPr>
          <a:xfrm>
            <a:off x="502920" y="5989320"/>
            <a:ext cx="530352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6400800" y="1664208"/>
            <a:ext cx="5303520" cy="475488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29400" y="1810512"/>
            <a:ext cx="9144000" cy="274320"/>
          </a:xfrm>
          <a:prstGeom prst="rect">
            <a:avLst/>
          </a:prstGeom>
          <a:noFill/>
        </p:spPr>
        <p:txBody>
          <a:bodyPr wrap="square">
            <a:spAutoFit/>
          </a:bodyPr>
          <a:lstStyle/>
          <a:p>
            <a:pPr algn="l"/>
            <a:r>
              <a:rPr sz="700" b="1" i="0">
                <a:solidFill>
                  <a:srgbClr val="8A8A8A"/>
                </a:solidFill>
                <a:latin typeface="Inter"/>
              </a:rPr>
              <a:t>90-DAY IMPLEMENTATION ROADMAP</a:t>
            </a:r>
          </a:p>
        </p:txBody>
      </p:sp>
      <p:cxnSp>
        <p:nvCxnSpPr>
          <p:cNvPr id="28" name="Connector 27"/>
          <p:cNvCxnSpPr/>
          <p:nvPr/>
        </p:nvCxnSpPr>
        <p:spPr>
          <a:xfrm>
            <a:off x="6629400" y="2212848"/>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629400" y="2286000"/>
            <a:ext cx="9144000" cy="274320"/>
          </a:xfrm>
          <a:prstGeom prst="rect">
            <a:avLst/>
          </a:prstGeom>
          <a:noFill/>
        </p:spPr>
        <p:txBody>
          <a:bodyPr wrap="square">
            <a:spAutoFit/>
          </a:bodyPr>
          <a:lstStyle/>
          <a:p>
            <a:pPr algn="l"/>
            <a:r>
              <a:rPr sz="700" b="1" i="0">
                <a:solidFill>
                  <a:srgbClr val="8A8A8A"/>
                </a:solidFill>
                <a:latin typeface="Inter"/>
              </a:rPr>
              <a:t>DAYS 01–30</a:t>
            </a:r>
          </a:p>
        </p:txBody>
      </p:sp>
      <p:sp>
        <p:nvSpPr>
          <p:cNvPr id="30" name="TextBox 29"/>
          <p:cNvSpPr txBox="1"/>
          <p:nvPr/>
        </p:nvSpPr>
        <p:spPr>
          <a:xfrm>
            <a:off x="6629400" y="2532888"/>
            <a:ext cx="4663440" cy="347472"/>
          </a:xfrm>
          <a:prstGeom prst="rect">
            <a:avLst/>
          </a:prstGeom>
          <a:noFill/>
        </p:spPr>
        <p:txBody>
          <a:bodyPr wrap="square">
            <a:spAutoFit/>
          </a:bodyPr>
          <a:lstStyle/>
          <a:p>
            <a:pPr algn="l"/>
            <a:r>
              <a:rPr sz="1100" b="0" i="0">
                <a:solidFill>
                  <a:srgbClr val="1A1A1A"/>
                </a:solidFill>
                <a:latin typeface="Inter"/>
              </a:rPr>
              <a:t>Audit &amp; Foundation</a:t>
            </a:r>
          </a:p>
        </p:txBody>
      </p:sp>
      <p:sp>
        <p:nvSpPr>
          <p:cNvPr id="31" name="TextBox 30"/>
          <p:cNvSpPr txBox="1"/>
          <p:nvPr/>
        </p:nvSpPr>
        <p:spPr>
          <a:xfrm>
            <a:off x="6629400" y="2907792"/>
            <a:ext cx="4663440" cy="594360"/>
          </a:xfrm>
          <a:prstGeom prst="rect">
            <a:avLst/>
          </a:prstGeom>
          <a:noFill/>
        </p:spPr>
        <p:txBody>
          <a:bodyPr wrap="square">
            <a:spAutoFit/>
          </a:bodyPr>
          <a:lstStyle/>
          <a:p>
            <a:pPr algn="l"/>
            <a:r>
              <a:rPr sz="850" b="0" i="0">
                <a:solidFill>
                  <a:srgbClr val="5A5A5A"/>
                </a:solidFill>
                <a:latin typeface="Inter"/>
              </a:rPr>
              <a:t>Map current AI tools, assess data infrastructure gaps, select one pilot use case with clear ROI metrics.</a:t>
            </a:r>
          </a:p>
        </p:txBody>
      </p:sp>
      <p:cxnSp>
        <p:nvCxnSpPr>
          <p:cNvPr id="32" name="Connector 31"/>
          <p:cNvCxnSpPr/>
          <p:nvPr/>
        </p:nvCxnSpPr>
        <p:spPr>
          <a:xfrm>
            <a:off x="6629400" y="3602736"/>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629400" y="3675888"/>
            <a:ext cx="9144000" cy="274320"/>
          </a:xfrm>
          <a:prstGeom prst="rect">
            <a:avLst/>
          </a:prstGeom>
          <a:noFill/>
        </p:spPr>
        <p:txBody>
          <a:bodyPr wrap="square">
            <a:spAutoFit/>
          </a:bodyPr>
          <a:lstStyle/>
          <a:p>
            <a:pPr algn="l"/>
            <a:r>
              <a:rPr sz="700" b="1" i="0">
                <a:solidFill>
                  <a:srgbClr val="8A8A8A"/>
                </a:solidFill>
                <a:latin typeface="Inter"/>
              </a:rPr>
              <a:t>DAYS 31–60</a:t>
            </a:r>
          </a:p>
        </p:txBody>
      </p:sp>
      <p:sp>
        <p:nvSpPr>
          <p:cNvPr id="34" name="TextBox 33"/>
          <p:cNvSpPr txBox="1"/>
          <p:nvPr/>
        </p:nvSpPr>
        <p:spPr>
          <a:xfrm>
            <a:off x="6629400" y="3922776"/>
            <a:ext cx="4663440" cy="347472"/>
          </a:xfrm>
          <a:prstGeom prst="rect">
            <a:avLst/>
          </a:prstGeom>
          <a:noFill/>
        </p:spPr>
        <p:txBody>
          <a:bodyPr wrap="square">
            <a:spAutoFit/>
          </a:bodyPr>
          <a:lstStyle/>
          <a:p>
            <a:pPr algn="l"/>
            <a:r>
              <a:rPr sz="1100" b="0" i="0">
                <a:solidFill>
                  <a:srgbClr val="1A1A1A"/>
                </a:solidFill>
                <a:latin typeface="Inter"/>
              </a:rPr>
              <a:t>Pilot Deployment</a:t>
            </a:r>
          </a:p>
        </p:txBody>
      </p:sp>
      <p:sp>
        <p:nvSpPr>
          <p:cNvPr id="35" name="TextBox 34"/>
          <p:cNvSpPr txBox="1"/>
          <p:nvPr/>
        </p:nvSpPr>
        <p:spPr>
          <a:xfrm>
            <a:off x="6629400" y="4297680"/>
            <a:ext cx="4663440" cy="594360"/>
          </a:xfrm>
          <a:prstGeom prst="rect">
            <a:avLst/>
          </a:prstGeom>
          <a:noFill/>
        </p:spPr>
        <p:txBody>
          <a:bodyPr wrap="square">
            <a:spAutoFit/>
          </a:bodyPr>
          <a:lstStyle/>
          <a:p>
            <a:pPr algn="l"/>
            <a:r>
              <a:rPr sz="850" b="0" i="0">
                <a:solidFill>
                  <a:srgbClr val="5A5A5A"/>
                </a:solidFill>
                <a:latin typeface="Inter"/>
              </a:rPr>
              <a:t>Deploy selected tool, train core team, establish measurement baselines, document early results.</a:t>
            </a:r>
          </a:p>
        </p:txBody>
      </p:sp>
      <p:cxnSp>
        <p:nvCxnSpPr>
          <p:cNvPr id="36" name="Connector 35"/>
          <p:cNvCxnSpPr/>
          <p:nvPr/>
        </p:nvCxnSpPr>
        <p:spPr>
          <a:xfrm>
            <a:off x="6629400" y="4992624"/>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629400" y="5065776"/>
            <a:ext cx="9144000" cy="274320"/>
          </a:xfrm>
          <a:prstGeom prst="rect">
            <a:avLst/>
          </a:prstGeom>
          <a:noFill/>
        </p:spPr>
        <p:txBody>
          <a:bodyPr wrap="square">
            <a:spAutoFit/>
          </a:bodyPr>
          <a:lstStyle/>
          <a:p>
            <a:pPr algn="l"/>
            <a:r>
              <a:rPr sz="700" b="1" i="0">
                <a:solidFill>
                  <a:srgbClr val="8A8A8A"/>
                </a:solidFill>
                <a:latin typeface="Inter"/>
              </a:rPr>
              <a:t>DAYS 61–90</a:t>
            </a:r>
          </a:p>
        </p:txBody>
      </p:sp>
      <p:sp>
        <p:nvSpPr>
          <p:cNvPr id="38" name="TextBox 37"/>
          <p:cNvSpPr txBox="1"/>
          <p:nvPr/>
        </p:nvSpPr>
        <p:spPr>
          <a:xfrm>
            <a:off x="6629400" y="5312664"/>
            <a:ext cx="4663440" cy="347472"/>
          </a:xfrm>
          <a:prstGeom prst="rect">
            <a:avLst/>
          </a:prstGeom>
          <a:noFill/>
        </p:spPr>
        <p:txBody>
          <a:bodyPr wrap="square">
            <a:spAutoFit/>
          </a:bodyPr>
          <a:lstStyle/>
          <a:p>
            <a:pPr algn="l"/>
            <a:r>
              <a:rPr sz="1100" b="0" i="0">
                <a:solidFill>
                  <a:srgbClr val="1A1A1A"/>
                </a:solidFill>
                <a:latin typeface="Inter"/>
              </a:rPr>
              <a:t>Evaluation &amp; Scale</a:t>
            </a:r>
          </a:p>
        </p:txBody>
      </p:sp>
      <p:sp>
        <p:nvSpPr>
          <p:cNvPr id="39" name="TextBox 38"/>
          <p:cNvSpPr txBox="1"/>
          <p:nvPr/>
        </p:nvSpPr>
        <p:spPr>
          <a:xfrm>
            <a:off x="6629400" y="5687568"/>
            <a:ext cx="4663440" cy="594360"/>
          </a:xfrm>
          <a:prstGeom prst="rect">
            <a:avLst/>
          </a:prstGeom>
          <a:noFill/>
        </p:spPr>
        <p:txBody>
          <a:bodyPr wrap="square">
            <a:spAutoFit/>
          </a:bodyPr>
          <a:lstStyle/>
          <a:p>
            <a:pPr algn="l"/>
            <a:r>
              <a:rPr sz="850" b="0" i="0">
                <a:solidFill>
                  <a:srgbClr val="5A5A5A"/>
                </a:solidFill>
                <a:latin typeface="Inter"/>
              </a:rPr>
              <a:t>Review pilot ROI, identify next three use cases, build internal capability for ongoing adoption.</a:t>
            </a:r>
          </a:p>
        </p:txBody>
      </p:sp>
      <p:cxnSp>
        <p:nvCxnSpPr>
          <p:cNvPr id="40" name="Connector 39"/>
          <p:cNvCxnSpPr/>
          <p:nvPr/>
        </p:nvCxnSpPr>
        <p:spPr>
          <a:xfrm>
            <a:off x="6629400" y="6382512"/>
            <a:ext cx="47548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42" name="TextBox 41"/>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15 / 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502920" y="502920"/>
            <a:ext cx="9144000" cy="274320"/>
          </a:xfrm>
          <a:prstGeom prst="rect">
            <a:avLst/>
          </a:prstGeom>
          <a:noFill/>
        </p:spPr>
        <p:txBody>
          <a:bodyPr wrap="square">
            <a:spAutoFit/>
          </a:bodyPr>
          <a:lstStyle/>
          <a:p>
            <a:pPr algn="l"/>
            <a:r>
              <a:rPr sz="700" b="1" i="0">
                <a:solidFill>
                  <a:srgbClr val="8A8A8A"/>
                </a:solidFill>
                <a:latin typeface="Inter"/>
              </a:rPr>
              <a:t>BUSINESS AND INVESTMENT CASE</a:t>
            </a:r>
          </a:p>
        </p:txBody>
      </p:sp>
      <p:sp>
        <p:nvSpPr>
          <p:cNvPr id="3" name="TextBox 2"/>
          <p:cNvSpPr txBox="1"/>
          <p:nvPr/>
        </p:nvSpPr>
        <p:spPr>
          <a:xfrm>
            <a:off x="502920" y="777240"/>
            <a:ext cx="10972800" cy="640080"/>
          </a:xfrm>
          <a:prstGeom prst="rect">
            <a:avLst/>
          </a:prstGeom>
          <a:noFill/>
        </p:spPr>
        <p:txBody>
          <a:bodyPr wrap="square">
            <a:spAutoFit/>
          </a:bodyPr>
          <a:lstStyle/>
          <a:p>
            <a:pPr algn="l"/>
            <a:r>
              <a:rPr sz="2600" b="0" i="0">
                <a:solidFill>
                  <a:srgbClr val="1A1A1A"/>
                </a:solidFill>
                <a:latin typeface="Inter"/>
              </a:rPr>
              <a:t>The window for deliberate positioning remains open — through 2027</a:t>
            </a:r>
          </a:p>
        </p:txBody>
      </p:sp>
      <p:cxnSp>
        <p:nvCxnSpPr>
          <p:cNvPr id="4" name="Connector 3"/>
          <p:cNvCxnSpPr/>
          <p:nvPr/>
        </p:nvCxnSpPr>
        <p:spPr>
          <a:xfrm>
            <a:off x="502920" y="1481328"/>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1664208"/>
            <a:ext cx="10972800" cy="868680"/>
          </a:xfrm>
          <a:prstGeom prst="rect">
            <a:avLst/>
          </a:prstGeom>
          <a:noFill/>
        </p:spPr>
        <p:txBody>
          <a:bodyPr wrap="square">
            <a:spAutoFit/>
          </a:bodyPr>
          <a:lstStyle/>
          <a:p>
            <a:pPr algn="l"/>
            <a:r>
              <a:rPr sz="1000" b="0" i="0">
                <a:solidFill>
                  <a:srgbClr val="5A5A5A"/>
                </a:solidFill>
                <a:latin typeface="Inter"/>
              </a:rPr>
              <a:t>SMEs that adopted AI before 2023 report three to five year competitive advantages in their markets. As adoption crosses 55% in 2025, the calculus reverses: late adoption becomes a liability, not a deferred option. For investors, the high-growth segment is not AI infrastructure — it is AI enablement for SMEs.</a:t>
            </a:r>
          </a:p>
        </p:txBody>
      </p:sp>
      <p:sp>
        <p:nvSpPr>
          <p:cNvPr id="6" name="Rectangle 5"/>
          <p:cNvSpPr/>
          <p:nvPr/>
        </p:nvSpPr>
        <p:spPr>
          <a:xfrm>
            <a:off x="502920" y="2743200"/>
            <a:ext cx="3547872" cy="182880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07792"/>
            <a:ext cx="3182112" cy="914400"/>
          </a:xfrm>
          <a:prstGeom prst="rect">
            <a:avLst/>
          </a:prstGeom>
          <a:noFill/>
        </p:spPr>
        <p:txBody>
          <a:bodyPr wrap="square">
            <a:spAutoFit/>
          </a:bodyPr>
          <a:lstStyle/>
          <a:p>
            <a:pPr algn="l"/>
            <a:r>
              <a:rPr sz="3800" b="0" i="0">
                <a:solidFill>
                  <a:srgbClr val="1A1A1A"/>
                </a:solidFill>
                <a:latin typeface="Inter"/>
              </a:rPr>
              <a:t>33.2M</a:t>
            </a:r>
          </a:p>
        </p:txBody>
      </p:sp>
      <p:cxnSp>
        <p:nvCxnSpPr>
          <p:cNvPr id="8" name="Connector 7"/>
          <p:cNvCxnSpPr/>
          <p:nvPr/>
        </p:nvCxnSpPr>
        <p:spPr>
          <a:xfrm>
            <a:off x="731520" y="3822192"/>
            <a:ext cx="309067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31520" y="3913632"/>
            <a:ext cx="3182112" cy="548640"/>
          </a:xfrm>
          <a:prstGeom prst="rect">
            <a:avLst/>
          </a:prstGeom>
          <a:noFill/>
        </p:spPr>
        <p:txBody>
          <a:bodyPr wrap="square">
            <a:spAutoFit/>
          </a:bodyPr>
          <a:lstStyle/>
          <a:p>
            <a:pPr algn="l"/>
            <a:r>
              <a:rPr sz="800" b="0" i="0">
                <a:solidFill>
                  <a:srgbClr val="5A5A5A"/>
                </a:solidFill>
                <a:latin typeface="Inter"/>
              </a:rPr>
              <a:t>US small and medium businesses — total addressable market</a:t>
            </a:r>
          </a:p>
        </p:txBody>
      </p:sp>
      <p:sp>
        <p:nvSpPr>
          <p:cNvPr id="10" name="Rectangle 9"/>
          <p:cNvSpPr/>
          <p:nvPr/>
        </p:nvSpPr>
        <p:spPr>
          <a:xfrm>
            <a:off x="4160520" y="2743200"/>
            <a:ext cx="3547872" cy="182880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2907792"/>
            <a:ext cx="3182112" cy="914400"/>
          </a:xfrm>
          <a:prstGeom prst="rect">
            <a:avLst/>
          </a:prstGeom>
          <a:noFill/>
        </p:spPr>
        <p:txBody>
          <a:bodyPr wrap="square">
            <a:spAutoFit/>
          </a:bodyPr>
          <a:lstStyle/>
          <a:p>
            <a:pPr algn="l"/>
            <a:r>
              <a:rPr sz="3800" b="0" i="0">
                <a:solidFill>
                  <a:srgbClr val="1A1A1A"/>
                </a:solidFill>
                <a:latin typeface="Inter"/>
              </a:rPr>
              <a:t>+23%</a:t>
            </a:r>
          </a:p>
        </p:txBody>
      </p:sp>
      <p:cxnSp>
        <p:nvCxnSpPr>
          <p:cNvPr id="12" name="Connector 11"/>
          <p:cNvCxnSpPr/>
          <p:nvPr/>
        </p:nvCxnSpPr>
        <p:spPr>
          <a:xfrm>
            <a:off x="4389120" y="3822192"/>
            <a:ext cx="309067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389120" y="3913632"/>
            <a:ext cx="3182112" cy="548640"/>
          </a:xfrm>
          <a:prstGeom prst="rect">
            <a:avLst/>
          </a:prstGeom>
          <a:noFill/>
        </p:spPr>
        <p:txBody>
          <a:bodyPr wrap="square">
            <a:spAutoFit/>
          </a:bodyPr>
          <a:lstStyle/>
          <a:p>
            <a:pPr algn="l"/>
            <a:r>
              <a:rPr sz="800" b="0" i="0">
                <a:solidFill>
                  <a:srgbClr val="5A5A5A"/>
                </a:solidFill>
                <a:latin typeface="Inter"/>
              </a:rPr>
              <a:t>Average revenue uplift for AI-adopting SMEs vs. peers</a:t>
            </a:r>
          </a:p>
        </p:txBody>
      </p:sp>
      <p:sp>
        <p:nvSpPr>
          <p:cNvPr id="14" name="Rectangle 13"/>
          <p:cNvSpPr/>
          <p:nvPr/>
        </p:nvSpPr>
        <p:spPr>
          <a:xfrm>
            <a:off x="7818120" y="2743200"/>
            <a:ext cx="3547872" cy="182880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2907792"/>
            <a:ext cx="3182112" cy="914400"/>
          </a:xfrm>
          <a:prstGeom prst="rect">
            <a:avLst/>
          </a:prstGeom>
          <a:noFill/>
        </p:spPr>
        <p:txBody>
          <a:bodyPr wrap="square">
            <a:spAutoFit/>
          </a:bodyPr>
          <a:lstStyle/>
          <a:p>
            <a:pPr algn="l"/>
            <a:r>
              <a:rPr sz="3800" b="0" i="0">
                <a:solidFill>
                  <a:srgbClr val="1A1A1A"/>
                </a:solidFill>
                <a:latin typeface="Inter"/>
              </a:rPr>
              <a:t>$847B</a:t>
            </a:r>
          </a:p>
        </p:txBody>
      </p:sp>
      <p:cxnSp>
        <p:nvCxnSpPr>
          <p:cNvPr id="16" name="Connector 15"/>
          <p:cNvCxnSpPr/>
          <p:nvPr/>
        </p:nvCxnSpPr>
        <p:spPr>
          <a:xfrm>
            <a:off x="8046720" y="3822192"/>
            <a:ext cx="309067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46720" y="3913632"/>
            <a:ext cx="3182112" cy="548640"/>
          </a:xfrm>
          <a:prstGeom prst="rect">
            <a:avLst/>
          </a:prstGeom>
          <a:noFill/>
        </p:spPr>
        <p:txBody>
          <a:bodyPr wrap="square">
            <a:spAutoFit/>
          </a:bodyPr>
          <a:lstStyle/>
          <a:p>
            <a:pPr algn="l"/>
            <a:r>
              <a:rPr sz="800" b="0" i="0">
                <a:solidFill>
                  <a:srgbClr val="5A5A5A"/>
                </a:solidFill>
                <a:latin typeface="Inter"/>
              </a:rPr>
              <a:t>Projected AI-enabled SME economic output by 2028</a:t>
            </a:r>
          </a:p>
        </p:txBody>
      </p:sp>
      <p:sp>
        <p:nvSpPr>
          <p:cNvPr id="18" name="Rectangle 17"/>
          <p:cNvSpPr/>
          <p:nvPr/>
        </p:nvSpPr>
        <p:spPr>
          <a:xfrm>
            <a:off x="502920" y="4681728"/>
            <a:ext cx="3547872" cy="182880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846320"/>
            <a:ext cx="3182112" cy="914400"/>
          </a:xfrm>
          <a:prstGeom prst="rect">
            <a:avLst/>
          </a:prstGeom>
          <a:noFill/>
        </p:spPr>
        <p:txBody>
          <a:bodyPr wrap="square">
            <a:spAutoFit/>
          </a:bodyPr>
          <a:lstStyle/>
          <a:p>
            <a:pPr algn="l"/>
            <a:r>
              <a:rPr sz="3800" b="0" i="0">
                <a:solidFill>
                  <a:srgbClr val="1A1A1A"/>
                </a:solidFill>
                <a:latin typeface="Inter"/>
              </a:rPr>
              <a:t>+680%</a:t>
            </a:r>
          </a:p>
        </p:txBody>
      </p:sp>
      <p:cxnSp>
        <p:nvCxnSpPr>
          <p:cNvPr id="20" name="Connector 19"/>
          <p:cNvCxnSpPr/>
          <p:nvPr/>
        </p:nvCxnSpPr>
        <p:spPr>
          <a:xfrm>
            <a:off x="731520" y="5760720"/>
            <a:ext cx="309067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5852160"/>
            <a:ext cx="3182112" cy="548640"/>
          </a:xfrm>
          <a:prstGeom prst="rect">
            <a:avLst/>
          </a:prstGeom>
          <a:noFill/>
        </p:spPr>
        <p:txBody>
          <a:bodyPr wrap="square">
            <a:spAutoFit/>
          </a:bodyPr>
          <a:lstStyle/>
          <a:p>
            <a:pPr algn="l"/>
            <a:r>
              <a:rPr sz="800" b="0" i="0">
                <a:solidFill>
                  <a:srgbClr val="5A5A5A"/>
                </a:solidFill>
                <a:latin typeface="Inter"/>
              </a:rPr>
              <a:t>AI adoption growth 2019 to 2024</a:t>
            </a:r>
          </a:p>
        </p:txBody>
      </p:sp>
      <p:sp>
        <p:nvSpPr>
          <p:cNvPr id="22" name="Rectangle 21"/>
          <p:cNvSpPr/>
          <p:nvPr/>
        </p:nvSpPr>
        <p:spPr>
          <a:xfrm>
            <a:off x="4160520" y="4681728"/>
            <a:ext cx="3547872" cy="182880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89120" y="4846320"/>
            <a:ext cx="3182112" cy="914400"/>
          </a:xfrm>
          <a:prstGeom prst="rect">
            <a:avLst/>
          </a:prstGeom>
          <a:noFill/>
        </p:spPr>
        <p:txBody>
          <a:bodyPr wrap="square">
            <a:spAutoFit/>
          </a:bodyPr>
          <a:lstStyle/>
          <a:p>
            <a:pPr algn="l"/>
            <a:r>
              <a:rPr sz="3800" b="0" i="0">
                <a:solidFill>
                  <a:srgbClr val="1A1A1A"/>
                </a:solidFill>
                <a:latin typeface="Inter"/>
              </a:rPr>
              <a:t>4 mo.</a:t>
            </a:r>
          </a:p>
        </p:txBody>
      </p:sp>
      <p:cxnSp>
        <p:nvCxnSpPr>
          <p:cNvPr id="24" name="Connector 23"/>
          <p:cNvCxnSpPr/>
          <p:nvPr/>
        </p:nvCxnSpPr>
        <p:spPr>
          <a:xfrm>
            <a:off x="4389120" y="5760720"/>
            <a:ext cx="309067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389120" y="5852160"/>
            <a:ext cx="3182112" cy="548640"/>
          </a:xfrm>
          <a:prstGeom prst="rect">
            <a:avLst/>
          </a:prstGeom>
          <a:noFill/>
        </p:spPr>
        <p:txBody>
          <a:bodyPr wrap="square">
            <a:spAutoFit/>
          </a:bodyPr>
          <a:lstStyle/>
          <a:p>
            <a:pPr algn="l"/>
            <a:r>
              <a:rPr sz="800" b="0" i="0">
                <a:solidFill>
                  <a:srgbClr val="5A5A5A"/>
                </a:solidFill>
                <a:latin typeface="Inter"/>
              </a:rPr>
              <a:t>Fastest ROI payback — Technology sector</a:t>
            </a:r>
          </a:p>
        </p:txBody>
      </p:sp>
      <p:sp>
        <p:nvSpPr>
          <p:cNvPr id="26" name="Rectangle 25"/>
          <p:cNvSpPr/>
          <p:nvPr/>
        </p:nvSpPr>
        <p:spPr>
          <a:xfrm>
            <a:off x="7818120" y="4681728"/>
            <a:ext cx="3547872" cy="182880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0" y="4846320"/>
            <a:ext cx="3182112" cy="914400"/>
          </a:xfrm>
          <a:prstGeom prst="rect">
            <a:avLst/>
          </a:prstGeom>
          <a:noFill/>
        </p:spPr>
        <p:txBody>
          <a:bodyPr wrap="square">
            <a:spAutoFit/>
          </a:bodyPr>
          <a:lstStyle/>
          <a:p>
            <a:pPr algn="l"/>
            <a:r>
              <a:rPr sz="3800" b="0" i="0">
                <a:solidFill>
                  <a:srgbClr val="1A1A1A"/>
                </a:solidFill>
                <a:latin typeface="Inter"/>
              </a:rPr>
              <a:t>2025</a:t>
            </a:r>
          </a:p>
        </p:txBody>
      </p:sp>
      <p:cxnSp>
        <p:nvCxnSpPr>
          <p:cNvPr id="28" name="Connector 27"/>
          <p:cNvCxnSpPr/>
          <p:nvPr/>
        </p:nvCxnSpPr>
        <p:spPr>
          <a:xfrm>
            <a:off x="8046720" y="5760720"/>
            <a:ext cx="3090672"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046720" y="5852160"/>
            <a:ext cx="3182112" cy="548640"/>
          </a:xfrm>
          <a:prstGeom prst="rect">
            <a:avLst/>
          </a:prstGeom>
          <a:noFill/>
        </p:spPr>
        <p:txBody>
          <a:bodyPr wrap="square">
            <a:spAutoFit/>
          </a:bodyPr>
          <a:lstStyle/>
          <a:p>
            <a:pPr algn="l"/>
            <a:r>
              <a:rPr sz="800" b="0" i="0">
                <a:solidFill>
                  <a:srgbClr val="5A5A5A"/>
                </a:solidFill>
                <a:latin typeface="Inter"/>
              </a:rPr>
              <a:t>Year adoption crosses the 55% majority threshold</a:t>
            </a:r>
          </a:p>
        </p:txBody>
      </p:sp>
      <p:sp>
        <p:nvSpPr>
          <p:cNvPr id="30" name="TextBox 29"/>
          <p:cNvSpPr txBox="1"/>
          <p:nvPr/>
        </p:nvSpPr>
        <p:spPr>
          <a:xfrm>
            <a:off x="502920" y="6492240"/>
            <a:ext cx="9144000" cy="274320"/>
          </a:xfrm>
          <a:prstGeom prst="rect">
            <a:avLst/>
          </a:prstGeom>
          <a:noFill/>
        </p:spPr>
        <p:txBody>
          <a:bodyPr wrap="square">
            <a:spAutoFit/>
          </a:bodyPr>
          <a:lstStyle/>
          <a:p>
            <a:pPr algn="l"/>
            <a:r>
              <a:rPr sz="700" b="0" i="0">
                <a:solidFill>
                  <a:srgbClr val="C4C4C4"/>
                </a:solidFill>
                <a:latin typeface="Inter"/>
              </a:rPr>
              <a:t>AI Adoption Intelligence Platform — US SMEs 2019–2028</a:t>
            </a:r>
          </a:p>
        </p:txBody>
      </p:sp>
      <p:sp>
        <p:nvSpPr>
          <p:cNvPr id="31" name="TextBox 30"/>
          <p:cNvSpPr txBox="1"/>
          <p:nvPr/>
        </p:nvSpPr>
        <p:spPr>
          <a:xfrm>
            <a:off x="10789920" y="6492240"/>
            <a:ext cx="1188720" cy="274320"/>
          </a:xfrm>
          <a:prstGeom prst="rect">
            <a:avLst/>
          </a:prstGeom>
          <a:noFill/>
        </p:spPr>
        <p:txBody>
          <a:bodyPr wrap="square">
            <a:spAutoFit/>
          </a:bodyPr>
          <a:lstStyle/>
          <a:p>
            <a:pPr algn="r"/>
            <a:r>
              <a:rPr sz="700" b="0" i="0">
                <a:solidFill>
                  <a:srgbClr val="C4C4C4"/>
                </a:solidFill>
                <a:latin typeface="Inter"/>
              </a:rPr>
              <a:t>16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cxnSp>
        <p:nvCxnSpPr>
          <p:cNvPr id="2" name="Connector 1"/>
          <p:cNvCxnSpPr/>
          <p:nvPr/>
        </p:nvCxnSpPr>
        <p:spPr>
          <a:xfrm>
            <a:off x="502920" y="777240"/>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3" name="TextBox 2"/>
          <p:cNvSpPr txBox="1"/>
          <p:nvPr/>
        </p:nvSpPr>
        <p:spPr>
          <a:xfrm>
            <a:off x="502920" y="1097280"/>
            <a:ext cx="8686800" cy="2926080"/>
          </a:xfrm>
          <a:prstGeom prst="rect">
            <a:avLst/>
          </a:prstGeom>
          <a:noFill/>
        </p:spPr>
        <p:txBody>
          <a:bodyPr wrap="square">
            <a:spAutoFit/>
          </a:bodyPr>
          <a:lstStyle/>
          <a:p>
            <a:pPr algn="l"/>
            <a:r>
              <a:rPr sz="2600" b="0" i="0">
                <a:solidFill>
                  <a:srgbClr val="1A1A1A"/>
                </a:solidFill>
                <a:latin typeface="Inter"/>
              </a:rPr>
              <a:t>"The question is no longer whether small businesses
will adopt AI. It is which ones will do it deliberately
— and which ones will be forced into it
by competitive pressure."</a:t>
            </a:r>
          </a:p>
        </p:txBody>
      </p:sp>
      <p:cxnSp>
        <p:nvCxnSpPr>
          <p:cNvPr id="4" name="Connector 3"/>
          <p:cNvCxnSpPr/>
          <p:nvPr/>
        </p:nvCxnSpPr>
        <p:spPr>
          <a:xfrm>
            <a:off x="502920" y="4069080"/>
            <a:ext cx="36576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4206240"/>
            <a:ext cx="5486400" cy="411480"/>
          </a:xfrm>
          <a:prstGeom prst="rect">
            <a:avLst/>
          </a:prstGeom>
          <a:noFill/>
        </p:spPr>
        <p:txBody>
          <a:bodyPr wrap="square">
            <a:spAutoFit/>
          </a:bodyPr>
          <a:lstStyle/>
          <a:p>
            <a:pPr algn="l"/>
            <a:r>
              <a:rPr sz="1000" b="0" i="0">
                <a:solidFill>
                  <a:srgbClr val="1A1A1A"/>
                </a:solidFill>
                <a:latin typeface="Inter"/>
              </a:rPr>
              <a:t>Carlos Zambrano</a:t>
            </a:r>
          </a:p>
        </p:txBody>
      </p:sp>
      <p:sp>
        <p:nvSpPr>
          <p:cNvPr id="6" name="TextBox 5"/>
          <p:cNvSpPr txBox="1"/>
          <p:nvPr/>
        </p:nvSpPr>
        <p:spPr>
          <a:xfrm>
            <a:off x="502920" y="4617720"/>
            <a:ext cx="6400800" cy="320040"/>
          </a:xfrm>
          <a:prstGeom prst="rect">
            <a:avLst/>
          </a:prstGeom>
          <a:noFill/>
        </p:spPr>
        <p:txBody>
          <a:bodyPr wrap="square">
            <a:spAutoFit/>
          </a:bodyPr>
          <a:lstStyle/>
          <a:p>
            <a:pPr algn="l"/>
            <a:r>
              <a:rPr sz="900" b="0" i="0">
                <a:solidFill>
                  <a:srgbClr val="8A8A8A"/>
                </a:solidFill>
                <a:latin typeface="Inter"/>
              </a:rPr>
              <a:t>IronHack Data Science Bootcamp — Final Project, 2024</a:t>
            </a:r>
          </a:p>
        </p:txBody>
      </p:sp>
      <p:sp>
        <p:nvSpPr>
          <p:cNvPr id="7" name="Rectangle 6"/>
          <p:cNvSpPr/>
          <p:nvPr/>
        </p:nvSpPr>
        <p:spPr>
          <a:xfrm>
            <a:off x="8046720" y="3657600"/>
            <a:ext cx="3931920" cy="2743200"/>
          </a:xfrm>
          <a:prstGeom prst="rect">
            <a:avLst/>
          </a:prstGeom>
          <a:solidFill>
            <a:srgbClr val="FFFFFF"/>
          </a:solidFill>
          <a:ln w="6350">
            <a:solidFill>
              <a:srgbClr val="E5E5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75320" y="3822191"/>
            <a:ext cx="9144000" cy="274320"/>
          </a:xfrm>
          <a:prstGeom prst="rect">
            <a:avLst/>
          </a:prstGeom>
          <a:noFill/>
        </p:spPr>
        <p:txBody>
          <a:bodyPr wrap="square">
            <a:spAutoFit/>
          </a:bodyPr>
          <a:lstStyle/>
          <a:p>
            <a:pPr algn="l"/>
            <a:r>
              <a:rPr sz="700" b="1" i="0">
                <a:solidFill>
                  <a:srgbClr val="8A8A8A"/>
                </a:solidFill>
                <a:latin typeface="Inter"/>
              </a:rPr>
              <a:t>PROJECT DELIVERABLES</a:t>
            </a:r>
          </a:p>
        </p:txBody>
      </p:sp>
      <p:cxnSp>
        <p:nvCxnSpPr>
          <p:cNvPr id="9" name="Connector 8"/>
          <p:cNvCxnSpPr/>
          <p:nvPr/>
        </p:nvCxnSpPr>
        <p:spPr>
          <a:xfrm>
            <a:off x="8275320" y="4187952"/>
            <a:ext cx="3429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75320" y="4242816"/>
            <a:ext cx="3429000" cy="347472"/>
          </a:xfrm>
          <a:prstGeom prst="rect">
            <a:avLst/>
          </a:prstGeom>
          <a:noFill/>
        </p:spPr>
        <p:txBody>
          <a:bodyPr wrap="square">
            <a:spAutoFit/>
          </a:bodyPr>
          <a:lstStyle/>
          <a:p>
            <a:pPr algn="l"/>
            <a:r>
              <a:rPr sz="800" b="0" i="0">
                <a:solidFill>
                  <a:srgbClr val="5A5A5A"/>
                </a:solidFill>
                <a:latin typeface="Inter"/>
              </a:rPr>
              <a:t>index.html — interactive web platform</a:t>
            </a:r>
          </a:p>
        </p:txBody>
      </p:sp>
      <p:cxnSp>
        <p:nvCxnSpPr>
          <p:cNvPr id="11" name="Connector 10"/>
          <p:cNvCxnSpPr/>
          <p:nvPr/>
        </p:nvCxnSpPr>
        <p:spPr>
          <a:xfrm>
            <a:off x="8275320" y="4599432"/>
            <a:ext cx="3429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75320" y="4654296"/>
            <a:ext cx="3429000" cy="347472"/>
          </a:xfrm>
          <a:prstGeom prst="rect">
            <a:avLst/>
          </a:prstGeom>
          <a:noFill/>
        </p:spPr>
        <p:txBody>
          <a:bodyPr wrap="square">
            <a:spAutoFit/>
          </a:bodyPr>
          <a:lstStyle/>
          <a:p>
            <a:pPr algn="l"/>
            <a:r>
              <a:rPr sz="800" b="0" i="0">
                <a:solidFill>
                  <a:srgbClr val="5A5A5A"/>
                </a:solidFill>
                <a:latin typeface="Inter"/>
              </a:rPr>
              <a:t>streamlit_app.py — analyst dashboard</a:t>
            </a:r>
          </a:p>
        </p:txBody>
      </p:sp>
      <p:cxnSp>
        <p:nvCxnSpPr>
          <p:cNvPr id="13" name="Connector 12"/>
          <p:cNvCxnSpPr/>
          <p:nvPr/>
        </p:nvCxnSpPr>
        <p:spPr>
          <a:xfrm>
            <a:off x="8275320" y="5010912"/>
            <a:ext cx="3429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75320" y="5065776"/>
            <a:ext cx="3429000" cy="347472"/>
          </a:xfrm>
          <a:prstGeom prst="rect">
            <a:avLst/>
          </a:prstGeom>
          <a:noFill/>
        </p:spPr>
        <p:txBody>
          <a:bodyPr wrap="square">
            <a:spAutoFit/>
          </a:bodyPr>
          <a:lstStyle/>
          <a:p>
            <a:pPr algn="l"/>
            <a:r>
              <a:rPr sz="800" b="0" i="0">
                <a:solidFill>
                  <a:srgbClr val="5A5A5A"/>
                </a:solidFill>
                <a:latin typeface="Inter"/>
              </a:rPr>
              <a:t>7 annotated Jupyter notebooks</a:t>
            </a:r>
          </a:p>
        </p:txBody>
      </p:sp>
      <p:cxnSp>
        <p:nvCxnSpPr>
          <p:cNvPr id="15" name="Connector 14"/>
          <p:cNvCxnSpPr/>
          <p:nvPr/>
        </p:nvCxnSpPr>
        <p:spPr>
          <a:xfrm>
            <a:off x="8275320" y="5422392"/>
            <a:ext cx="3429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75320" y="5477256"/>
            <a:ext cx="3429000" cy="347472"/>
          </a:xfrm>
          <a:prstGeom prst="rect">
            <a:avLst/>
          </a:prstGeom>
          <a:noFill/>
        </p:spPr>
        <p:txBody>
          <a:bodyPr wrap="square">
            <a:spAutoFit/>
          </a:bodyPr>
          <a:lstStyle/>
          <a:p>
            <a:pPr algn="l"/>
            <a:r>
              <a:rPr sz="800" b="0" i="0">
                <a:solidFill>
                  <a:srgbClr val="5A5A5A"/>
                </a:solidFill>
                <a:latin typeface="Inter"/>
              </a:rPr>
              <a:t>Trained Gradient Boosting classifier</a:t>
            </a:r>
          </a:p>
        </p:txBody>
      </p:sp>
      <p:cxnSp>
        <p:nvCxnSpPr>
          <p:cNvPr id="17" name="Connector 16"/>
          <p:cNvCxnSpPr/>
          <p:nvPr/>
        </p:nvCxnSpPr>
        <p:spPr>
          <a:xfrm>
            <a:off x="8275320" y="5833872"/>
            <a:ext cx="3429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75320" y="5888736"/>
            <a:ext cx="3429000" cy="347472"/>
          </a:xfrm>
          <a:prstGeom prst="rect">
            <a:avLst/>
          </a:prstGeom>
          <a:noFill/>
        </p:spPr>
        <p:txBody>
          <a:bodyPr wrap="square">
            <a:spAutoFit/>
          </a:bodyPr>
          <a:lstStyle/>
          <a:p>
            <a:pPr algn="l"/>
            <a:r>
              <a:rPr sz="800" b="0" i="0">
                <a:solidFill>
                  <a:srgbClr val="5A5A5A"/>
                </a:solidFill>
                <a:latin typeface="Inter"/>
              </a:rPr>
              <a:t>GenAI advisor — Anthropic Claude API</a:t>
            </a:r>
          </a:p>
        </p:txBody>
      </p:sp>
      <p:cxnSp>
        <p:nvCxnSpPr>
          <p:cNvPr id="19" name="Connector 18"/>
          <p:cNvCxnSpPr/>
          <p:nvPr/>
        </p:nvCxnSpPr>
        <p:spPr>
          <a:xfrm>
            <a:off x="8275320" y="6245352"/>
            <a:ext cx="342900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02920" y="6492240"/>
            <a:ext cx="11155680" cy="0"/>
          </a:xfrm>
          <a:prstGeom prst="line">
            <a:avLst/>
          </a:prstGeom>
          <a:ln w="9525">
            <a:solidFill>
              <a:srgbClr val="E5E5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02920" y="6537960"/>
            <a:ext cx="10972800" cy="274320"/>
          </a:xfrm>
          <a:prstGeom prst="rect">
            <a:avLst/>
          </a:prstGeom>
          <a:noFill/>
        </p:spPr>
        <p:txBody>
          <a:bodyPr wrap="square">
            <a:spAutoFit/>
          </a:bodyPr>
          <a:lstStyle/>
          <a:p>
            <a:pPr algn="l"/>
            <a:r>
              <a:rPr sz="700" b="0" i="0">
                <a:solidFill>
                  <a:srgbClr val="C4C4C4"/>
                </a:solidFill>
                <a:latin typeface="Inter"/>
              </a:rPr>
              <a:t>AI Adoption Intelligence Platform — US SMEs 2019–2028   ·   IronHack Data Science Bootcamp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